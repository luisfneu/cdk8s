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63" r:id="rId4"/>
    <p:sldId id="264" r:id="rId5"/>
    <p:sldId id="259" r:id="rId6"/>
    <p:sldId id="269" r:id="rId7"/>
    <p:sldId id="261" r:id="rId8"/>
    <p:sldId id="265" r:id="rId9"/>
    <p:sldId id="262" r:id="rId10"/>
    <p:sldId id="266" r:id="rId11"/>
    <p:sldId id="270" r:id="rId12"/>
    <p:sldId id="267" r:id="rId13"/>
    <p:sldId id="268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5276"/>
    <a:srgbClr val="114519"/>
    <a:srgbClr val="4E0000"/>
    <a:srgbClr val="35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6"/>
    <p:restoredTop sz="64739"/>
  </p:normalViewPr>
  <p:slideViewPr>
    <p:cSldViewPr snapToGrid="0">
      <p:cViewPr>
        <p:scale>
          <a:sx n="140" d="100"/>
          <a:sy n="140" d="100"/>
        </p:scale>
        <p:origin x="456" y="22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A44A81-9FC5-AA4F-A65C-52E69092C013}" type="datetimeFigureOut">
              <a:rPr lang="pt-BR" smtClean="0"/>
              <a:t>14/03/2026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43C8C9-70B0-4949-BF2F-5B48EED42C4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234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Hello</a:t>
            </a:r>
            <a:r>
              <a:rPr lang="pt-BR" dirty="0"/>
              <a:t>, </a:t>
            </a:r>
          </a:p>
          <a:p>
            <a:endParaRPr lang="pt-BR" dirty="0"/>
          </a:p>
          <a:p>
            <a:r>
              <a:rPr lang="pt-BR" dirty="0" err="1"/>
              <a:t>My</a:t>
            </a:r>
            <a:r>
              <a:rPr lang="pt-BR" dirty="0"/>
              <a:t> </a:t>
            </a:r>
            <a:r>
              <a:rPr lang="pt-BR" dirty="0" err="1"/>
              <a:t>name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Luis Fernando Neu </a:t>
            </a:r>
            <a:r>
              <a:rPr lang="pt-BR" dirty="0" err="1"/>
              <a:t>I’m</a:t>
            </a:r>
            <a:r>
              <a:rPr lang="pt-BR" dirty="0"/>
              <a:t> </a:t>
            </a:r>
            <a:r>
              <a:rPr lang="pt-BR" dirty="0" err="1"/>
              <a:t>from</a:t>
            </a:r>
            <a:r>
              <a:rPr lang="pt-BR" dirty="0"/>
              <a:t> Devops Team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today</a:t>
            </a:r>
            <a:r>
              <a:rPr lang="pt-BR" dirty="0"/>
              <a:t> </a:t>
            </a:r>
            <a:r>
              <a:rPr lang="pt-BR" dirty="0" err="1"/>
              <a:t>i;m</a:t>
            </a:r>
            <a:r>
              <a:rPr lang="pt-BR" dirty="0"/>
              <a:t> </a:t>
            </a:r>
            <a:r>
              <a:rPr lang="pt-BR" dirty="0" err="1"/>
              <a:t>gonna</a:t>
            </a:r>
            <a:r>
              <a:rPr lang="pt-BR" dirty="0"/>
              <a:t> </a:t>
            </a:r>
            <a:r>
              <a:rPr lang="pt-BR" dirty="0" err="1"/>
              <a:t>talk</a:t>
            </a:r>
            <a:r>
              <a:rPr lang="pt-BR" dirty="0"/>
              <a:t> a bit </a:t>
            </a:r>
            <a:r>
              <a:rPr lang="pt-BR" dirty="0" err="1"/>
              <a:t>about</a:t>
            </a:r>
            <a:r>
              <a:rPr lang="pt-BR" dirty="0"/>
              <a:t> cdk8s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43C8C9-70B0-4949-BF2F-5B48EED42C4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01654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CDD99-4AFA-B81D-31EE-0479A1D1B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09D6144-258B-3F0E-68FC-DAC03F67D5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1D358F6-845F-18B5-BAA7-FFCCFE6A62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2000" b="0" dirty="0"/>
              <a:t>1:00 </a:t>
            </a:r>
            <a:r>
              <a:rPr lang="pt-BR" sz="2000" b="0" dirty="0" err="1"/>
              <a:t>What</a:t>
            </a:r>
            <a:r>
              <a:rPr lang="pt-BR" sz="2000" b="0" dirty="0"/>
              <a:t> </a:t>
            </a:r>
            <a:r>
              <a:rPr lang="pt-BR" sz="2000" b="0" dirty="0" err="1"/>
              <a:t>is</a:t>
            </a:r>
            <a:r>
              <a:rPr lang="pt-BR" sz="2000" b="0" dirty="0"/>
              <a:t> CDK8s</a:t>
            </a:r>
          </a:p>
          <a:p>
            <a:endParaRPr lang="pt-BR" sz="2000" b="0" dirty="0"/>
          </a:p>
          <a:p>
            <a:r>
              <a:rPr lang="pt-BR" sz="2000" dirty="0"/>
              <a:t>It </a:t>
            </a:r>
            <a:r>
              <a:rPr lang="pt-BR" sz="2000" dirty="0" err="1"/>
              <a:t>is</a:t>
            </a:r>
            <a:r>
              <a:rPr lang="pt-BR" sz="2000" dirty="0"/>
              <a:t> </a:t>
            </a:r>
            <a:r>
              <a:rPr lang="pt-BR" sz="2000" dirty="0" err="1"/>
              <a:t>an</a:t>
            </a:r>
            <a:r>
              <a:rPr lang="pt-BR" sz="2000" dirty="0"/>
              <a:t> open-</a:t>
            </a:r>
            <a:r>
              <a:rPr lang="pt-BR" sz="2000" dirty="0" err="1"/>
              <a:t>source</a:t>
            </a:r>
            <a:r>
              <a:rPr lang="pt-BR" sz="2000" dirty="0"/>
              <a:t> framework </a:t>
            </a:r>
            <a:r>
              <a:rPr lang="pt-BR" sz="2000" dirty="0" err="1"/>
              <a:t>built</a:t>
            </a:r>
            <a:r>
              <a:rPr lang="pt-BR" sz="2000" dirty="0"/>
              <a:t> in </a:t>
            </a:r>
            <a:r>
              <a:rPr lang="pt-BR" sz="2000" dirty="0" err="1"/>
              <a:t>TypeScript</a:t>
            </a:r>
            <a:r>
              <a:rPr lang="pt-BR" sz="2000" dirty="0"/>
              <a:t> </a:t>
            </a:r>
            <a:r>
              <a:rPr lang="pt-BR" sz="2000" dirty="0" err="1"/>
              <a:t>that</a:t>
            </a:r>
            <a:r>
              <a:rPr lang="pt-BR" sz="2000" dirty="0"/>
              <a:t> </a:t>
            </a:r>
            <a:r>
              <a:rPr lang="pt-BR" sz="2000" dirty="0" err="1"/>
              <a:t>allows</a:t>
            </a:r>
            <a:r>
              <a:rPr lang="pt-BR" sz="2000" dirty="0"/>
              <a:t> </a:t>
            </a:r>
            <a:r>
              <a:rPr lang="pt-BR" sz="2000" dirty="0" err="1"/>
              <a:t>you</a:t>
            </a:r>
            <a:r>
              <a:rPr lang="pt-BR" sz="2000" dirty="0"/>
              <a:t> </a:t>
            </a:r>
            <a:r>
              <a:rPr lang="pt-BR" sz="2000" dirty="0" err="1"/>
              <a:t>to</a:t>
            </a:r>
            <a:r>
              <a:rPr lang="pt-BR" sz="2000" dirty="0"/>
              <a:t> define </a:t>
            </a:r>
            <a:r>
              <a:rPr lang="pt-BR" sz="2000" dirty="0" err="1"/>
              <a:t>Kubernetes</a:t>
            </a:r>
            <a:r>
              <a:rPr lang="pt-BR" sz="2000" dirty="0"/>
              <a:t> </a:t>
            </a:r>
            <a:r>
              <a:rPr lang="pt-BR" sz="2000" dirty="0" err="1"/>
              <a:t>resources</a:t>
            </a:r>
            <a:r>
              <a:rPr lang="pt-BR" sz="2000" dirty="0"/>
              <a:t> </a:t>
            </a:r>
            <a:r>
              <a:rPr lang="pt-BR" sz="2000" dirty="0" err="1"/>
              <a:t>using</a:t>
            </a:r>
            <a:r>
              <a:rPr lang="pt-BR" sz="2000" dirty="0"/>
              <a:t> common </a:t>
            </a:r>
            <a:r>
              <a:rPr lang="pt-BR" sz="2000" dirty="0" err="1"/>
              <a:t>programming</a:t>
            </a:r>
            <a:r>
              <a:rPr lang="pt-BR" sz="2000" dirty="0"/>
              <a:t> </a:t>
            </a:r>
            <a:r>
              <a:rPr lang="pt-BR" sz="2000" dirty="0" err="1"/>
              <a:t>languages</a:t>
            </a:r>
            <a:r>
              <a:rPr lang="pt-BR" sz="2000" dirty="0"/>
              <a:t> </a:t>
            </a:r>
            <a:r>
              <a:rPr lang="pt-BR" sz="2000" dirty="0" err="1"/>
              <a:t>instead</a:t>
            </a:r>
            <a:r>
              <a:rPr lang="pt-BR" sz="2000" dirty="0"/>
              <a:t> </a:t>
            </a:r>
            <a:r>
              <a:rPr lang="pt-BR" sz="2000" dirty="0" err="1"/>
              <a:t>of</a:t>
            </a:r>
            <a:r>
              <a:rPr lang="pt-BR" sz="2000" dirty="0"/>
              <a:t> YAML files.</a:t>
            </a:r>
          </a:p>
          <a:p>
            <a:endParaRPr lang="pt-BR" sz="2000" dirty="0"/>
          </a:p>
          <a:p>
            <a:r>
              <a:rPr lang="pt-BR" sz="2000" dirty="0"/>
              <a:t>CDK8s </a:t>
            </a:r>
            <a:r>
              <a:rPr lang="pt-BR" sz="2000" dirty="0" err="1"/>
              <a:t>generates</a:t>
            </a:r>
            <a:r>
              <a:rPr lang="pt-BR" sz="2000" dirty="0"/>
              <a:t> </a:t>
            </a:r>
            <a:r>
              <a:rPr lang="pt-BR" sz="2000" dirty="0" err="1"/>
              <a:t>pure</a:t>
            </a:r>
            <a:r>
              <a:rPr lang="pt-BR" sz="2000" dirty="0"/>
              <a:t> </a:t>
            </a:r>
            <a:r>
              <a:rPr lang="pt-BR" sz="2000" dirty="0" err="1"/>
              <a:t>Kubernetes</a:t>
            </a:r>
            <a:r>
              <a:rPr lang="pt-BR" sz="2000" dirty="0"/>
              <a:t> YAML, </a:t>
            </a:r>
            <a:r>
              <a:rPr lang="pt-BR" sz="2000" dirty="0" err="1"/>
              <a:t>which</a:t>
            </a:r>
            <a:r>
              <a:rPr lang="pt-BR" sz="2000" dirty="0"/>
              <a:t> </a:t>
            </a:r>
            <a:r>
              <a:rPr lang="pt-BR" sz="2000" dirty="0" err="1"/>
              <a:t>means</a:t>
            </a:r>
            <a:r>
              <a:rPr lang="pt-BR" sz="2000" dirty="0"/>
              <a:t> </a:t>
            </a:r>
            <a:r>
              <a:rPr lang="pt-BR" sz="2000" dirty="0" err="1"/>
              <a:t>you</a:t>
            </a:r>
            <a:r>
              <a:rPr lang="pt-BR" sz="2000" dirty="0"/>
              <a:t> </a:t>
            </a:r>
            <a:r>
              <a:rPr lang="pt-BR" sz="2000" dirty="0" err="1"/>
              <a:t>can</a:t>
            </a:r>
            <a:r>
              <a:rPr lang="pt-BR" sz="2000" dirty="0"/>
              <a:t> use it </a:t>
            </a:r>
            <a:r>
              <a:rPr lang="pt-BR" sz="2000" dirty="0" err="1"/>
              <a:t>to</a:t>
            </a:r>
            <a:r>
              <a:rPr lang="pt-BR" sz="2000" dirty="0"/>
              <a:t> define </a:t>
            </a:r>
            <a:r>
              <a:rPr lang="pt-BR" sz="2000" dirty="0" err="1"/>
              <a:t>applications</a:t>
            </a:r>
            <a:r>
              <a:rPr lang="pt-BR" sz="2000" dirty="0"/>
              <a:t> for </a:t>
            </a:r>
            <a:r>
              <a:rPr lang="pt-BR" sz="2000" dirty="0" err="1"/>
              <a:t>any</a:t>
            </a:r>
            <a:r>
              <a:rPr lang="pt-BR" sz="2000" dirty="0"/>
              <a:t> </a:t>
            </a:r>
            <a:r>
              <a:rPr lang="pt-BR" sz="2000" dirty="0" err="1"/>
              <a:t>Kubernetes</a:t>
            </a:r>
            <a:r>
              <a:rPr lang="pt-BR" sz="2000" dirty="0"/>
              <a:t> cluster running </a:t>
            </a:r>
            <a:r>
              <a:rPr lang="pt-BR" sz="2000" dirty="0" err="1"/>
              <a:t>anywhere</a:t>
            </a:r>
            <a:r>
              <a:rPr lang="pt-BR" sz="2000" dirty="0"/>
              <a:t>.</a:t>
            </a:r>
          </a:p>
          <a:p>
            <a:endParaRPr lang="pt-BR" sz="2000" dirty="0"/>
          </a:p>
          <a:p>
            <a:r>
              <a:rPr lang="pt-BR" sz="2000" dirty="0" err="1"/>
              <a:t>But</a:t>
            </a:r>
            <a:r>
              <a:rPr lang="pt-BR" sz="2000" dirty="0"/>
              <a:t> </a:t>
            </a:r>
            <a:r>
              <a:rPr lang="pt-BR" sz="2000" dirty="0" err="1"/>
              <a:t>To</a:t>
            </a:r>
            <a:r>
              <a:rPr lang="pt-BR" sz="2000" dirty="0"/>
              <a:t> </a:t>
            </a:r>
            <a:r>
              <a:rPr lang="pt-BR" sz="2000" dirty="0" err="1"/>
              <a:t>explain</a:t>
            </a:r>
            <a:r>
              <a:rPr lang="pt-BR" sz="2000" dirty="0"/>
              <a:t> </a:t>
            </a:r>
            <a:r>
              <a:rPr lang="pt-BR" sz="2000" dirty="0" err="1"/>
              <a:t>better</a:t>
            </a:r>
            <a:r>
              <a:rPr lang="pt-BR" sz="2000" dirty="0"/>
              <a:t> </a:t>
            </a:r>
            <a:r>
              <a:rPr lang="pt-BR" sz="2000" dirty="0" err="1"/>
              <a:t>whath</a:t>
            </a:r>
            <a:r>
              <a:rPr lang="pt-BR" sz="2000" dirty="0"/>
              <a:t> </a:t>
            </a:r>
            <a:r>
              <a:rPr lang="pt-BR" sz="2000" dirty="0" err="1"/>
              <a:t>is</a:t>
            </a:r>
            <a:r>
              <a:rPr lang="pt-BR" sz="2000" dirty="0"/>
              <a:t> CDK8, </a:t>
            </a:r>
            <a:r>
              <a:rPr lang="pt-BR" sz="2000" dirty="0" err="1"/>
              <a:t>we</a:t>
            </a:r>
            <a:r>
              <a:rPr lang="pt-BR" sz="2000" dirty="0"/>
              <a:t> </a:t>
            </a:r>
            <a:r>
              <a:rPr lang="pt-BR" sz="2000" dirty="0" err="1"/>
              <a:t>need</a:t>
            </a:r>
            <a:r>
              <a:rPr lang="pt-BR" sz="2000" dirty="0"/>
              <a:t> </a:t>
            </a:r>
            <a:r>
              <a:rPr lang="pt-BR" sz="2000" dirty="0" err="1"/>
              <a:t>to</a:t>
            </a:r>
            <a:r>
              <a:rPr lang="pt-BR" sz="2000" dirty="0"/>
              <a:t> </a:t>
            </a:r>
            <a:r>
              <a:rPr lang="pt-BR" sz="2000" dirty="0" err="1"/>
              <a:t>know</a:t>
            </a:r>
            <a:r>
              <a:rPr lang="pt-BR" sz="2000" dirty="0"/>
              <a:t> Where it came </a:t>
            </a:r>
            <a:r>
              <a:rPr lang="pt-BR" sz="2000" dirty="0" err="1"/>
              <a:t>from</a:t>
            </a:r>
            <a:r>
              <a:rPr lang="pt-BR" sz="2000" dirty="0"/>
              <a:t>: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00D3AC1-A52D-234E-FCC7-B9031C08A7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43C8C9-70B0-4949-BF2F-5B48EED42C45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56379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73E9B-9B8B-51D0-A0DE-198CA8F90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8559CAF-E009-B4AF-3799-EEE7C08653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6E3B16C-90F5-2A20-F825-13F65882A6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0:30 -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need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CDK,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CDK minds Cloud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Development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Kit, </a:t>
            </a: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AWS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bring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idea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concept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define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SDK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infrastructure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...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BD1625A-F66F-A0FE-D958-2BD1BECA5F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43C8C9-70B0-4949-BF2F-5B48EED42C45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44273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BD2E4-C67E-43B6-8213-BB636F69E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775CAF4-BBD3-ED72-FBD9-3D30D61062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33D9948-8C2B-A206-D717-A33FD11498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1:00 - </a:t>
            </a:r>
            <a:r>
              <a:rPr lang="pt-BR" dirty="0"/>
              <a:t>The CDK </a:t>
            </a:r>
            <a:r>
              <a:rPr lang="pt-BR" dirty="0" err="1"/>
              <a:t>is</a:t>
            </a:r>
            <a:r>
              <a:rPr lang="pt-BR" dirty="0"/>
              <a:t> a tool </a:t>
            </a:r>
            <a:r>
              <a:rPr lang="pt-BR" dirty="0" err="1"/>
              <a:t>that</a:t>
            </a:r>
            <a:r>
              <a:rPr lang="pt-BR" dirty="0"/>
              <a:t> </a:t>
            </a:r>
            <a:r>
              <a:rPr lang="pt-BR" dirty="0" err="1"/>
              <a:t>lets</a:t>
            </a:r>
            <a:r>
              <a:rPr lang="pt-BR" dirty="0"/>
              <a:t> </a:t>
            </a:r>
            <a:r>
              <a:rPr lang="pt-BR" dirty="0" err="1"/>
              <a:t>you</a:t>
            </a:r>
            <a:r>
              <a:rPr lang="pt-BR" dirty="0"/>
              <a:t> define cloud infra </a:t>
            </a:r>
            <a:r>
              <a:rPr lang="pt-BR" dirty="0" err="1"/>
              <a:t>using</a:t>
            </a:r>
            <a:r>
              <a:rPr lang="pt-BR" dirty="0"/>
              <a:t> </a:t>
            </a:r>
            <a:r>
              <a:rPr lang="pt-BR" dirty="0" err="1"/>
              <a:t>code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deploy</a:t>
            </a:r>
            <a:r>
              <a:rPr lang="pt-BR" dirty="0"/>
              <a:t> it </a:t>
            </a:r>
            <a:r>
              <a:rPr lang="pt-BR" dirty="0" err="1"/>
              <a:t>with</a:t>
            </a:r>
            <a:r>
              <a:rPr lang="pt-BR" dirty="0"/>
              <a:t> </a:t>
            </a:r>
            <a:r>
              <a:rPr lang="pt-BR" dirty="0" err="1"/>
              <a:t>CloudFormation</a:t>
            </a:r>
            <a:r>
              <a:rPr lang="pt-BR" dirty="0"/>
              <a:t>. It </a:t>
            </a:r>
            <a:r>
              <a:rPr lang="pt-BR" dirty="0" err="1"/>
              <a:t>works</a:t>
            </a:r>
            <a:r>
              <a:rPr lang="pt-BR" dirty="0"/>
              <a:t> </a:t>
            </a:r>
            <a:r>
              <a:rPr lang="pt-BR" dirty="0" err="1"/>
              <a:t>well</a:t>
            </a:r>
            <a:r>
              <a:rPr lang="pt-BR" dirty="0"/>
              <a:t> </a:t>
            </a:r>
            <a:r>
              <a:rPr lang="pt-BR" dirty="0" err="1"/>
              <a:t>with</a:t>
            </a:r>
            <a:r>
              <a:rPr lang="pt-BR" dirty="0"/>
              <a:t> AWS </a:t>
            </a:r>
            <a:r>
              <a:rPr lang="pt-BR" dirty="0" err="1"/>
              <a:t>services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gives</a:t>
            </a:r>
            <a:r>
              <a:rPr lang="pt-BR" dirty="0"/>
              <a:t> </a:t>
            </a:r>
            <a:r>
              <a:rPr lang="pt-BR" dirty="0" err="1"/>
              <a:t>you</a:t>
            </a:r>
            <a:r>
              <a:rPr lang="pt-BR" dirty="0"/>
              <a:t> a </a:t>
            </a:r>
            <a:r>
              <a:rPr lang="pt-BR" dirty="0" err="1"/>
              <a:t>simpler</a:t>
            </a:r>
            <a:r>
              <a:rPr lang="pt-BR" dirty="0"/>
              <a:t>, more </a:t>
            </a:r>
            <a:r>
              <a:rPr lang="pt-BR" dirty="0" err="1"/>
              <a:t>organized</a:t>
            </a:r>
            <a:r>
              <a:rPr lang="pt-BR" dirty="0"/>
              <a:t> </a:t>
            </a:r>
            <a:r>
              <a:rPr lang="pt-BR" dirty="0" err="1"/>
              <a:t>way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create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manage</a:t>
            </a:r>
            <a:r>
              <a:rPr lang="pt-BR" dirty="0"/>
              <a:t> </a:t>
            </a:r>
            <a:r>
              <a:rPr lang="pt-BR" dirty="0" err="1"/>
              <a:t>resources</a:t>
            </a:r>
            <a:r>
              <a:rPr lang="pt-BR" dirty="0"/>
              <a:t>.</a:t>
            </a: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diagram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analogy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compiler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b="1" dirty="0"/>
              <a:t>CDK </a:t>
            </a:r>
            <a:r>
              <a:rPr lang="pt-BR" b="1" dirty="0" err="1"/>
              <a:t>Application</a:t>
            </a:r>
            <a:r>
              <a:rPr lang="pt-BR" dirty="0"/>
              <a:t> -  </a:t>
            </a:r>
            <a:r>
              <a:rPr lang="pt-BR" dirty="0" err="1"/>
              <a:t>you</a:t>
            </a:r>
            <a:r>
              <a:rPr lang="pt-BR" dirty="0"/>
              <a:t> </a:t>
            </a:r>
            <a:r>
              <a:rPr lang="pt-BR" dirty="0" err="1"/>
              <a:t>write</a:t>
            </a:r>
            <a:r>
              <a:rPr lang="pt-BR" dirty="0"/>
              <a:t> </a:t>
            </a:r>
            <a:r>
              <a:rPr lang="pt-BR" dirty="0" err="1"/>
              <a:t>your</a:t>
            </a:r>
            <a:r>
              <a:rPr lang="pt-BR" dirty="0"/>
              <a:t> infra as </a:t>
            </a:r>
            <a:r>
              <a:rPr lang="pt-BR" dirty="0" err="1"/>
              <a:t>code</a:t>
            </a:r>
            <a:r>
              <a:rPr lang="pt-BR" dirty="0"/>
              <a:t> </a:t>
            </a:r>
            <a:r>
              <a:rPr lang="pt-BR" dirty="0" err="1"/>
              <a:t>using</a:t>
            </a:r>
            <a:r>
              <a:rPr lang="pt-BR" dirty="0"/>
              <a:t> </a:t>
            </a:r>
            <a:r>
              <a:rPr lang="pt-BR" dirty="0" err="1"/>
              <a:t>constructs</a:t>
            </a:r>
            <a:endParaRPr lang="pt-BR" dirty="0"/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b="1" dirty="0"/>
              <a:t>CDK CLI / </a:t>
            </a:r>
            <a:r>
              <a:rPr lang="pt-B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cdk</a:t>
            </a:r>
            <a:r>
              <a:rPr lang="pt-B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pt-B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synth</a:t>
            </a:r>
            <a:r>
              <a:rPr lang="pt-BR" dirty="0"/>
              <a:t> -  </a:t>
            </a:r>
            <a:r>
              <a:rPr lang="pt-BR" dirty="0" err="1"/>
              <a:t>act</a:t>
            </a:r>
            <a:r>
              <a:rPr lang="pt-BR" dirty="0"/>
              <a:t> like a </a:t>
            </a:r>
            <a:r>
              <a:rPr lang="pt-BR" dirty="0" err="1"/>
              <a:t>compiler</a:t>
            </a:r>
            <a:r>
              <a:rPr lang="pt-BR" dirty="0"/>
              <a:t>,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transform</a:t>
            </a:r>
            <a:r>
              <a:rPr lang="pt-BR" dirty="0"/>
              <a:t> </a:t>
            </a:r>
            <a:r>
              <a:rPr lang="pt-BR" dirty="0" err="1"/>
              <a:t>your</a:t>
            </a:r>
            <a:r>
              <a:rPr lang="pt-BR" dirty="0"/>
              <a:t> </a:t>
            </a:r>
            <a:r>
              <a:rPr lang="pt-BR" dirty="0" err="1"/>
              <a:t>code</a:t>
            </a:r>
            <a:r>
              <a:rPr lang="pt-BR" dirty="0"/>
              <a:t> </a:t>
            </a:r>
            <a:r>
              <a:rPr lang="pt-BR" dirty="0" err="1"/>
              <a:t>into</a:t>
            </a:r>
            <a:r>
              <a:rPr lang="pt-BR" dirty="0"/>
              <a:t> a </a:t>
            </a:r>
            <a:r>
              <a:rPr lang="pt-BR" dirty="0" err="1"/>
              <a:t>intermediate</a:t>
            </a:r>
            <a:r>
              <a:rPr lang="pt-BR" dirty="0"/>
              <a:t> </a:t>
            </a:r>
            <a:r>
              <a:rPr lang="pt-BR" dirty="0" err="1"/>
              <a:t>format</a:t>
            </a:r>
            <a:endParaRPr lang="pt-BR" dirty="0"/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b="1" dirty="0"/>
              <a:t>AWS </a:t>
            </a:r>
            <a:r>
              <a:rPr lang="pt-BR" b="1" dirty="0" err="1"/>
              <a:t>CloudFormation</a:t>
            </a:r>
            <a:r>
              <a:rPr lang="pt-BR" dirty="0"/>
              <a:t> - </a:t>
            </a:r>
            <a:r>
              <a:rPr lang="pt-BR" dirty="0" err="1"/>
              <a:t>CloudFormation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service</a:t>
            </a:r>
            <a:r>
              <a:rPr lang="pt-BR" dirty="0"/>
              <a:t> </a:t>
            </a:r>
            <a:r>
              <a:rPr lang="pt-BR" dirty="0" err="1"/>
              <a:t>that</a:t>
            </a:r>
            <a:r>
              <a:rPr lang="pt-BR" dirty="0"/>
              <a:t> </a:t>
            </a:r>
            <a:r>
              <a:rPr lang="pt-BR" dirty="0" err="1"/>
              <a:t>actually</a:t>
            </a:r>
            <a:r>
              <a:rPr lang="pt-BR" dirty="0"/>
              <a:t> executes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provisions</a:t>
            </a:r>
            <a:r>
              <a:rPr lang="pt-BR" dirty="0"/>
              <a:t> </a:t>
            </a:r>
            <a:r>
              <a:rPr lang="pt-BR" dirty="0" err="1"/>
              <a:t>resources</a:t>
            </a:r>
            <a:r>
              <a:rPr lang="pt-BR" dirty="0"/>
              <a:t> in AWS.</a:t>
            </a: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link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CDK8s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basically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 a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extension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CDK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declarative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infrastructure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kubernetes</a:t>
            </a:r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A836BD1-5A81-FC3B-809D-C936C3E685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43C8C9-70B0-4949-BF2F-5B48EED42C45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6757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90AD5-A888-BB39-B2CE-2EBBFDDB3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4AA76C4-444E-73FF-FFD7-4B922A2709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49C4823-86F6-2E6D-B65A-3684CFBCD0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CDK8s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extende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esse conceito do CDK para gerar infraestrutura declarativa para K8s</a:t>
            </a: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diagram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,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define o conceito de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Application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de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chart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Inside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cdk8s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template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put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your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application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chart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fica dentro da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aplicacao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entao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sua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construct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seria o menor bloco do CDK, e dentro dele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vc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tem a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definicao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construct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 como podemos observar, alguns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constructs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some familiar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like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ingress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deployments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deamon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set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many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others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assim conseguimos empilhar nossa infraestrutura ate ter nossos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charts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consequentemente nossos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applications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dirty="0"/>
              <a:t>Os </a:t>
            </a:r>
            <a:r>
              <a:rPr lang="pt-BR" b="1" dirty="0" err="1"/>
              <a:t>constructs</a:t>
            </a:r>
            <a:r>
              <a:rPr lang="pt-BR" dirty="0"/>
              <a:t> são o conceito central que une o CDK8s (e toda a família CDK). A definição do repositório oficial é bastante direta: </a:t>
            </a:r>
            <a:r>
              <a:rPr lang="pt-BR" dirty="0" err="1"/>
              <a:t>constructs</a:t>
            </a:r>
            <a:r>
              <a:rPr lang="pt-BR" dirty="0"/>
              <a:t> são classes que definem um "pedaço de estado do sistema", e podem ser compostos para formar blocos de construção de alto nível que representam estados mais complexos.</a:t>
            </a:r>
          </a:p>
          <a:p>
            <a:endParaRPr lang="pt-BR" dirty="0"/>
          </a:p>
          <a:p>
            <a:r>
              <a:rPr lang="pt-BR" dirty="0" err="1"/>
              <a:t>Constructs</a:t>
            </a:r>
            <a:r>
              <a:rPr lang="pt-BR" dirty="0"/>
              <a:t> </a:t>
            </a:r>
            <a:r>
              <a:rPr lang="pt-BR" dirty="0" err="1"/>
              <a:t>have</a:t>
            </a:r>
            <a:r>
              <a:rPr lang="pt-BR" dirty="0"/>
              <a:t> 3 </a:t>
            </a:r>
            <a:r>
              <a:rPr lang="pt-BR" dirty="0" err="1"/>
              <a:t>layers</a:t>
            </a:r>
            <a:r>
              <a:rPr lang="pt-BR" dirty="0"/>
              <a:t>: </a:t>
            </a:r>
          </a:p>
          <a:p>
            <a:r>
              <a:rPr lang="pt-BR" b="1" dirty="0"/>
              <a:t>1. O que é um </a:t>
            </a:r>
            <a:r>
              <a:rPr lang="pt-BR" b="1" dirty="0" err="1"/>
              <a:t>construct</a:t>
            </a:r>
            <a:r>
              <a:rPr lang="pt-BR" b="1" dirty="0"/>
              <a:t>?</a:t>
            </a:r>
            <a:r>
              <a:rPr lang="pt-BR" dirty="0"/>
              <a:t> É simplesmente uma classe na sua linguagem preferida (</a:t>
            </a:r>
            <a:r>
              <a:rPr lang="pt-BR" dirty="0" err="1"/>
              <a:t>TypeScript</a:t>
            </a:r>
            <a:r>
              <a:rPr lang="pt-BR" dirty="0"/>
              <a:t>, Python, Go…). Ela representa um recurso </a:t>
            </a:r>
            <a:r>
              <a:rPr lang="pt-BR" dirty="0" err="1"/>
              <a:t>Kubernetes</a:t>
            </a:r>
            <a:r>
              <a:rPr lang="pt-BR" dirty="0"/>
              <a:t> — um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Deployment</a:t>
            </a:r>
            <a:r>
              <a:rPr lang="pt-BR" dirty="0"/>
              <a:t>, um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Service</a:t>
            </a:r>
            <a:r>
              <a:rPr lang="pt-BR" dirty="0"/>
              <a:t>, um 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ConfigMap</a:t>
            </a:r>
            <a:r>
              <a:rPr lang="pt-BR" dirty="0"/>
              <a:t>. Você instancia ela passando um escopo, um ID e as configurações.</a:t>
            </a:r>
          </a:p>
          <a:p>
            <a:r>
              <a:rPr lang="pt-BR" b="1" dirty="0"/>
              <a:t>2. A hierarquia de </a:t>
            </a:r>
            <a:r>
              <a:rPr lang="pt-BR" b="1" dirty="0" err="1"/>
              <a:t>constructs</a:t>
            </a:r>
            <a:r>
              <a:rPr lang="pt-BR" b="1" dirty="0"/>
              <a:t> (L1, L2, L3)</a:t>
            </a:r>
            <a:r>
              <a:rPr lang="pt-BR" dirty="0"/>
              <a:t> Há três níveis de abstração: o nível 0 oferece os objetos da API core, onde você escreve praticamente todo o YAML; o nível 2 são APIs de alto nível artesanais, onde você gera </a:t>
            </a:r>
            <a:r>
              <a:rPr lang="pt-BR" dirty="0" err="1"/>
              <a:t>manifests</a:t>
            </a:r>
            <a:r>
              <a:rPr lang="pt-BR" dirty="0"/>
              <a:t> YAML completos com apenas 2–3 linhas de código. </a:t>
            </a:r>
          </a:p>
          <a:p>
            <a:r>
              <a:rPr lang="pt-BR" b="1" dirty="0"/>
              <a:t>3. Composição</a:t>
            </a:r>
            <a:r>
              <a:rPr lang="pt-BR" dirty="0"/>
              <a:t> Assim como no </a:t>
            </a:r>
            <a:r>
              <a:rPr lang="pt-BR" dirty="0" err="1"/>
              <a:t>React</a:t>
            </a:r>
            <a:r>
              <a:rPr lang="pt-BR" dirty="0"/>
              <a:t>, </a:t>
            </a:r>
            <a:r>
              <a:rPr lang="pt-BR" dirty="0" err="1"/>
              <a:t>constructs</a:t>
            </a:r>
            <a:r>
              <a:rPr lang="pt-BR" dirty="0"/>
              <a:t> são usados para representar pequenas peças de infraestrutura que podem ser facilmente conectadas a outros </a:t>
            </a:r>
            <a:r>
              <a:rPr lang="pt-BR" dirty="0" err="1"/>
              <a:t>constructs</a:t>
            </a:r>
            <a:r>
              <a:rPr lang="pt-BR" dirty="0"/>
              <a:t> para construir infraestruturas muito complexas. </a:t>
            </a:r>
          </a:p>
          <a:p>
            <a:r>
              <a:rPr lang="pt-BR" dirty="0"/>
              <a:t>Aqui está um diagrama para ilustrar a hierarquia e composição:</a:t>
            </a:r>
          </a:p>
          <a:p>
            <a:endParaRPr lang="pt-BR" b="0" dirty="0"/>
          </a:p>
          <a:p>
            <a:endParaRPr lang="pt-BR" b="0" dirty="0"/>
          </a:p>
          <a:p>
            <a:endParaRPr lang="pt-BR" b="0" dirty="0"/>
          </a:p>
          <a:p>
            <a:r>
              <a:rPr lang="pt-BR" dirty="0"/>
              <a:t>A hierarquia funciona assim: o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</a:t>
            </a:r>
            <a:r>
              <a:rPr lang="pt-BR" dirty="0"/>
              <a:t> é a raiz da árvore, contém um ou mais 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Charts</a:t>
            </a:r>
            <a:r>
              <a:rPr lang="pt-BR" dirty="0"/>
              <a:t>, e cada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Chart</a:t>
            </a:r>
            <a:r>
              <a:rPr lang="pt-BR" dirty="0"/>
              <a:t> agrupa </a:t>
            </a:r>
            <a:r>
              <a:rPr lang="pt-BR" dirty="0" err="1"/>
              <a:t>constructs</a:t>
            </a:r>
            <a:r>
              <a:rPr lang="pt-BR" dirty="0"/>
              <a:t>. Ao rodar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cdk8s 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synth</a:t>
            </a:r>
            <a:r>
              <a:rPr lang="pt-BR" dirty="0"/>
              <a:t>, cada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Chart</a:t>
            </a:r>
            <a:r>
              <a:rPr lang="pt-BR" dirty="0"/>
              <a:t> vira um arquivo YAML separado, pronto para aplicar no cluster.</a:t>
            </a:r>
          </a:p>
          <a:p>
            <a:r>
              <a:rPr lang="pt-BR" dirty="0"/>
              <a:t>Os três níveis de </a:t>
            </a:r>
            <a:r>
              <a:rPr lang="pt-BR" dirty="0" err="1"/>
              <a:t>constructs</a:t>
            </a:r>
            <a:r>
              <a:rPr lang="pt-BR" dirty="0"/>
              <a:t> têm propósitos distintos:</a:t>
            </a:r>
          </a:p>
          <a:p>
            <a:r>
              <a:rPr lang="pt-BR" b="1" dirty="0"/>
              <a:t>L1</a:t>
            </a:r>
            <a:r>
              <a:rPr lang="pt-BR" dirty="0"/>
              <a:t> são gerados automaticamente a partir dos </a:t>
            </a:r>
            <a:r>
              <a:rPr lang="pt-BR" dirty="0" err="1"/>
              <a:t>CRDs</a:t>
            </a:r>
            <a:r>
              <a:rPr lang="pt-BR" dirty="0"/>
              <a:t> do </a:t>
            </a:r>
            <a:r>
              <a:rPr lang="pt-BR" dirty="0" err="1"/>
              <a:t>Kubernetes</a:t>
            </a:r>
            <a:r>
              <a:rPr lang="pt-BR" dirty="0"/>
              <a:t> — mapeamento 1:1 com o YAML. Máxima fidelidade, máximo verbosidade.</a:t>
            </a:r>
          </a:p>
          <a:p>
            <a:r>
              <a:rPr lang="pt-BR" b="1" dirty="0"/>
              <a:t>L2</a:t>
            </a:r>
            <a:r>
              <a:rPr lang="pt-BR" dirty="0"/>
              <a:t> (biblioteca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cdk8s+</a:t>
            </a:r>
            <a:r>
              <a:rPr lang="pt-BR" dirty="0"/>
              <a:t>) são abstrações com opiniões e valores padrão inteligentes. Você define o que importa, os detalhes são preenchidos.</a:t>
            </a:r>
          </a:p>
          <a:p>
            <a:r>
              <a:rPr lang="pt-BR" b="1" dirty="0"/>
              <a:t>L3</a:t>
            </a:r>
            <a:r>
              <a:rPr lang="pt-BR" dirty="0"/>
              <a:t> são </a:t>
            </a:r>
            <a:r>
              <a:rPr lang="pt-BR" dirty="0" err="1"/>
              <a:t>constructs</a:t>
            </a:r>
            <a:r>
              <a:rPr lang="pt-BR" dirty="0"/>
              <a:t> que você cria combinando L1 e L2 — por exemplo, uma classe 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MinhaWebApp</a:t>
            </a:r>
            <a:r>
              <a:rPr lang="pt-BR" dirty="0"/>
              <a:t> que encapsula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Deployment + Service + HPA</a:t>
            </a:r>
            <a:r>
              <a:rPr lang="pt-BR" dirty="0"/>
              <a:t> com as convenções da sua empresa.</a:t>
            </a: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9746DB4-417E-AC07-A3AB-30D4DB41F1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43C8C9-70B0-4949-BF2F-5B48EED42C45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9992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9C98E-9DBF-1BD8-3DA8-9FC629961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E50FC40-CA8D-7DFA-9BAD-ADD7A1665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807A345-191F-E50F-F6C0-E4DDA2C503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4:00 In </a:t>
            </a:r>
            <a:r>
              <a:rPr lang="pt-BR" dirty="0" err="1"/>
              <a:t>this</a:t>
            </a:r>
            <a:r>
              <a:rPr lang="pt-BR" dirty="0"/>
              <a:t> </a:t>
            </a:r>
            <a:r>
              <a:rPr lang="pt-BR" dirty="0" err="1"/>
              <a:t>diagram</a:t>
            </a:r>
            <a:r>
              <a:rPr lang="pt-BR" dirty="0"/>
              <a:t>, </a:t>
            </a:r>
            <a:r>
              <a:rPr lang="pt-BR" dirty="0" err="1"/>
              <a:t>we</a:t>
            </a:r>
            <a:r>
              <a:rPr lang="pt-BR" dirty="0"/>
              <a:t> define </a:t>
            </a:r>
            <a:r>
              <a:rPr lang="pt-BR" dirty="0" err="1"/>
              <a:t>two</a:t>
            </a:r>
            <a:r>
              <a:rPr lang="pt-BR" dirty="0"/>
              <a:t> </a:t>
            </a:r>
            <a:r>
              <a:rPr lang="pt-BR" dirty="0" err="1"/>
              <a:t>key</a:t>
            </a:r>
            <a:r>
              <a:rPr lang="pt-BR" dirty="0"/>
              <a:t> </a:t>
            </a:r>
            <a:r>
              <a:rPr lang="pt-BR" dirty="0" err="1"/>
              <a:t>building</a:t>
            </a:r>
            <a:r>
              <a:rPr lang="pt-BR" dirty="0"/>
              <a:t> </a:t>
            </a:r>
            <a:r>
              <a:rPr lang="pt-BR" dirty="0" err="1"/>
              <a:t>blocks</a:t>
            </a:r>
            <a:r>
              <a:rPr lang="pt-BR" dirty="0"/>
              <a:t>:</a:t>
            </a:r>
          </a:p>
          <a:p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b="1" dirty="0" err="1"/>
              <a:t>Application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b="1" dirty="0"/>
              <a:t>Chart</a:t>
            </a:r>
            <a:r>
              <a:rPr lang="pt-BR" dirty="0"/>
              <a:t>. </a:t>
            </a:r>
          </a:p>
          <a:p>
            <a:endParaRPr lang="pt-BR" dirty="0"/>
          </a:p>
          <a:p>
            <a:r>
              <a:rPr lang="pt-BR" dirty="0"/>
              <a:t>The </a:t>
            </a:r>
            <a:r>
              <a:rPr lang="pt-BR" dirty="0" err="1"/>
              <a:t>Application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root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your</a:t>
            </a:r>
            <a:r>
              <a:rPr lang="pt-BR" dirty="0"/>
              <a:t> CDK8s </a:t>
            </a:r>
            <a:r>
              <a:rPr lang="pt-BR" dirty="0" err="1"/>
              <a:t>project</a:t>
            </a:r>
            <a:r>
              <a:rPr lang="pt-BR" dirty="0"/>
              <a:t>, </a:t>
            </a:r>
          </a:p>
          <a:p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Charts</a:t>
            </a:r>
            <a:r>
              <a:rPr lang="pt-BR" dirty="0"/>
              <a:t> live </a:t>
            </a:r>
            <a:r>
              <a:rPr lang="pt-BR" dirty="0" err="1"/>
              <a:t>inside</a:t>
            </a:r>
            <a:r>
              <a:rPr lang="pt-BR" dirty="0"/>
              <a:t> it. </a:t>
            </a:r>
          </a:p>
          <a:p>
            <a:r>
              <a:rPr lang="pt-BR" dirty="0"/>
              <a:t>The </a:t>
            </a:r>
            <a:r>
              <a:rPr lang="pt-BR" b="1" dirty="0" err="1"/>
              <a:t>Construct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smallest</a:t>
            </a:r>
            <a:r>
              <a:rPr lang="pt-BR" dirty="0"/>
              <a:t> </a:t>
            </a:r>
            <a:r>
              <a:rPr lang="pt-BR" dirty="0" err="1"/>
              <a:t>unit</a:t>
            </a:r>
            <a:r>
              <a:rPr lang="pt-BR" dirty="0"/>
              <a:t>,  it </a:t>
            </a:r>
            <a:r>
              <a:rPr lang="pt-BR" dirty="0" err="1"/>
              <a:t>holds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actual</a:t>
            </a:r>
            <a:r>
              <a:rPr lang="pt-BR" dirty="0"/>
              <a:t> </a:t>
            </a:r>
            <a:r>
              <a:rPr lang="pt-BR" dirty="0" err="1"/>
              <a:t>resource</a:t>
            </a:r>
            <a:r>
              <a:rPr lang="pt-BR" dirty="0"/>
              <a:t> </a:t>
            </a:r>
            <a:r>
              <a:rPr lang="pt-BR" dirty="0" err="1"/>
              <a:t>definitions</a:t>
            </a:r>
            <a:r>
              <a:rPr lang="pt-BR" dirty="0"/>
              <a:t>. Some </a:t>
            </a:r>
            <a:r>
              <a:rPr lang="pt-BR" dirty="0" err="1"/>
              <a:t>constructs</a:t>
            </a:r>
            <a:r>
              <a:rPr lang="pt-BR" dirty="0"/>
              <a:t> </a:t>
            </a:r>
            <a:r>
              <a:rPr lang="pt-BR" dirty="0" err="1"/>
              <a:t>will</a:t>
            </a:r>
            <a:r>
              <a:rPr lang="pt-BR" dirty="0"/>
              <a:t> </a:t>
            </a:r>
            <a:r>
              <a:rPr lang="pt-BR" dirty="0" err="1"/>
              <a:t>have</a:t>
            </a:r>
            <a:r>
              <a:rPr lang="pt-BR" dirty="0"/>
              <a:t> familiar </a:t>
            </a:r>
            <a:r>
              <a:rPr lang="pt-BR" dirty="0" err="1"/>
              <a:t>names</a:t>
            </a:r>
            <a:r>
              <a:rPr lang="pt-BR" dirty="0"/>
              <a:t>: </a:t>
            </a:r>
            <a:r>
              <a:rPr lang="pt-BR" dirty="0" err="1"/>
              <a:t>Ingress</a:t>
            </a:r>
            <a:r>
              <a:rPr lang="pt-BR" dirty="0"/>
              <a:t>, Deployment, Service, </a:t>
            </a:r>
            <a:r>
              <a:rPr lang="pt-BR" dirty="0" err="1"/>
              <a:t>DaemonSet</a:t>
            </a:r>
            <a:r>
              <a:rPr lang="pt-BR" dirty="0"/>
              <a:t>,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many</a:t>
            </a:r>
            <a:r>
              <a:rPr lang="pt-BR" dirty="0"/>
              <a:t> </a:t>
            </a:r>
            <a:r>
              <a:rPr lang="pt-BR" dirty="0" err="1"/>
              <a:t>others</a:t>
            </a:r>
            <a:r>
              <a:rPr lang="pt-BR" dirty="0"/>
              <a:t>. </a:t>
            </a:r>
          </a:p>
          <a:p>
            <a:endParaRPr lang="pt-BR" dirty="0"/>
          </a:p>
          <a:p>
            <a:r>
              <a:rPr lang="pt-BR" dirty="0" err="1"/>
              <a:t>By</a:t>
            </a:r>
            <a:r>
              <a:rPr lang="pt-BR" dirty="0"/>
              <a:t> </a:t>
            </a:r>
            <a:r>
              <a:rPr lang="pt-BR" dirty="0" err="1"/>
              <a:t>composing</a:t>
            </a:r>
            <a:r>
              <a:rPr lang="pt-BR" dirty="0"/>
              <a:t> </a:t>
            </a:r>
            <a:r>
              <a:rPr lang="pt-BR" dirty="0" err="1"/>
              <a:t>constructs</a:t>
            </a:r>
            <a:r>
              <a:rPr lang="pt-BR" dirty="0"/>
              <a:t>, </a:t>
            </a:r>
            <a:r>
              <a:rPr lang="pt-BR" dirty="0" err="1"/>
              <a:t>you</a:t>
            </a:r>
            <a:r>
              <a:rPr lang="pt-BR" dirty="0"/>
              <a:t> build </a:t>
            </a:r>
            <a:r>
              <a:rPr lang="pt-BR" dirty="0" err="1"/>
              <a:t>Charts</a:t>
            </a:r>
            <a:r>
              <a:rPr lang="pt-BR" dirty="0"/>
              <a:t>,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Charts</a:t>
            </a:r>
            <a:r>
              <a:rPr lang="pt-BR" dirty="0"/>
              <a:t> build </a:t>
            </a:r>
            <a:r>
              <a:rPr lang="pt-BR" dirty="0" err="1"/>
              <a:t>up</a:t>
            </a:r>
            <a:r>
              <a:rPr lang="pt-BR" dirty="0"/>
              <a:t> </a:t>
            </a:r>
            <a:r>
              <a:rPr lang="pt-BR" dirty="0" err="1"/>
              <a:t>your</a:t>
            </a:r>
            <a:r>
              <a:rPr lang="pt-BR" dirty="0"/>
              <a:t> </a:t>
            </a:r>
            <a:r>
              <a:rPr lang="pt-BR" dirty="0" err="1"/>
              <a:t>Application</a:t>
            </a:r>
            <a:r>
              <a:rPr lang="pt-BR" dirty="0"/>
              <a:t>.</a:t>
            </a:r>
          </a:p>
          <a:p>
            <a:endParaRPr lang="pt-BR" dirty="0"/>
          </a:p>
          <a:p>
            <a:br>
              <a:rPr lang="pt-BR" dirty="0"/>
            </a:br>
            <a:r>
              <a:rPr lang="pt-BR" b="1" dirty="0" err="1"/>
              <a:t>Constructs</a:t>
            </a:r>
            <a:r>
              <a:rPr lang="pt-BR" b="1" dirty="0"/>
              <a:t> are </a:t>
            </a:r>
            <a:r>
              <a:rPr lang="pt-BR" b="1" dirty="0" err="1"/>
              <a:t>the</a:t>
            </a:r>
            <a:r>
              <a:rPr lang="pt-BR" b="1" dirty="0"/>
              <a:t> core </a:t>
            </a:r>
            <a:r>
              <a:rPr lang="pt-BR" b="1" dirty="0" err="1"/>
              <a:t>concept</a:t>
            </a:r>
            <a:r>
              <a:rPr lang="pt-BR" b="1" dirty="0"/>
              <a:t> </a:t>
            </a:r>
            <a:r>
              <a:rPr lang="pt-BR" b="1" dirty="0" err="1"/>
              <a:t>behind</a:t>
            </a:r>
            <a:r>
              <a:rPr lang="pt-BR" b="1" dirty="0"/>
              <a:t> CDK8s — </a:t>
            </a:r>
            <a:r>
              <a:rPr lang="pt-BR" b="1" dirty="0" err="1"/>
              <a:t>and</a:t>
            </a:r>
            <a:r>
              <a:rPr lang="pt-BR" b="1" dirty="0"/>
              <a:t> </a:t>
            </a:r>
            <a:r>
              <a:rPr lang="pt-BR" b="1" dirty="0" err="1"/>
              <a:t>the</a:t>
            </a:r>
            <a:r>
              <a:rPr lang="pt-BR" b="1" dirty="0"/>
              <a:t> </a:t>
            </a:r>
            <a:r>
              <a:rPr lang="pt-BR" b="1" dirty="0" err="1"/>
              <a:t>entire</a:t>
            </a:r>
            <a:r>
              <a:rPr lang="pt-BR" b="1" dirty="0"/>
              <a:t> CDK </a:t>
            </a:r>
            <a:r>
              <a:rPr lang="pt-BR" b="1" dirty="0" err="1"/>
              <a:t>family</a:t>
            </a:r>
            <a:r>
              <a:rPr lang="pt-BR" b="1" dirty="0"/>
              <a:t>.</a:t>
            </a:r>
            <a:r>
              <a:rPr lang="pt-BR" dirty="0"/>
              <a:t> </a:t>
            </a:r>
            <a:r>
              <a:rPr lang="pt-BR" dirty="0" err="1"/>
              <a:t>From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official</a:t>
            </a:r>
            <a:r>
              <a:rPr lang="pt-BR" dirty="0"/>
              <a:t> </a:t>
            </a:r>
            <a:r>
              <a:rPr lang="pt-BR" dirty="0" err="1"/>
              <a:t>repository</a:t>
            </a:r>
            <a:r>
              <a:rPr lang="pt-BR" dirty="0"/>
              <a:t>: </a:t>
            </a:r>
            <a:r>
              <a:rPr lang="pt-BR" dirty="0" err="1"/>
              <a:t>constructs</a:t>
            </a:r>
            <a:r>
              <a:rPr lang="pt-BR" dirty="0"/>
              <a:t> are classes </a:t>
            </a:r>
            <a:r>
              <a:rPr lang="pt-BR" dirty="0" err="1"/>
              <a:t>that</a:t>
            </a:r>
            <a:r>
              <a:rPr lang="pt-BR" dirty="0"/>
              <a:t> define a </a:t>
            </a:r>
            <a:r>
              <a:rPr lang="pt-BR" dirty="0" err="1"/>
              <a:t>piece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system </a:t>
            </a:r>
            <a:r>
              <a:rPr lang="pt-BR" dirty="0" err="1"/>
              <a:t>state</a:t>
            </a:r>
            <a:r>
              <a:rPr lang="pt-BR" dirty="0"/>
              <a:t>,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can</a:t>
            </a:r>
            <a:r>
              <a:rPr lang="pt-BR" dirty="0"/>
              <a:t> </a:t>
            </a:r>
            <a:r>
              <a:rPr lang="pt-BR" dirty="0" err="1"/>
              <a:t>be</a:t>
            </a:r>
            <a:r>
              <a:rPr lang="pt-BR" dirty="0"/>
              <a:t> </a:t>
            </a:r>
            <a:r>
              <a:rPr lang="pt-BR" dirty="0" err="1"/>
              <a:t>composed</a:t>
            </a:r>
            <a:r>
              <a:rPr lang="pt-BR" dirty="0"/>
              <a:t> </a:t>
            </a:r>
            <a:r>
              <a:rPr lang="pt-BR" dirty="0" err="1"/>
              <a:t>together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form</a:t>
            </a:r>
            <a:r>
              <a:rPr lang="pt-BR" dirty="0"/>
              <a:t> </a:t>
            </a:r>
            <a:r>
              <a:rPr lang="pt-BR" dirty="0" err="1"/>
              <a:t>higher-level</a:t>
            </a:r>
            <a:r>
              <a:rPr lang="pt-BR" dirty="0"/>
              <a:t> </a:t>
            </a:r>
            <a:r>
              <a:rPr lang="pt-BR" dirty="0" err="1"/>
              <a:t>building</a:t>
            </a:r>
            <a:r>
              <a:rPr lang="pt-BR" dirty="0"/>
              <a:t> </a:t>
            </a:r>
            <a:r>
              <a:rPr lang="pt-BR" dirty="0" err="1"/>
              <a:t>blocks</a:t>
            </a:r>
            <a:r>
              <a:rPr lang="pt-BR" dirty="0"/>
              <a:t> </a:t>
            </a:r>
            <a:r>
              <a:rPr lang="pt-BR" dirty="0" err="1"/>
              <a:t>representing</a:t>
            </a:r>
            <a:r>
              <a:rPr lang="pt-BR" dirty="0"/>
              <a:t> more </a:t>
            </a:r>
            <a:r>
              <a:rPr lang="pt-BR" dirty="0" err="1"/>
              <a:t>complex</a:t>
            </a:r>
            <a:r>
              <a:rPr lang="pt-BR" dirty="0"/>
              <a:t> </a:t>
            </a:r>
            <a:r>
              <a:rPr lang="pt-BR" dirty="0" err="1"/>
              <a:t>state</a:t>
            </a:r>
            <a:r>
              <a:rPr lang="pt-BR" dirty="0"/>
              <a:t>.</a:t>
            </a:r>
          </a:p>
          <a:p>
            <a:r>
              <a:rPr lang="pt-BR" dirty="0"/>
              <a:t>Every </a:t>
            </a:r>
            <a:r>
              <a:rPr lang="pt-BR" dirty="0" err="1"/>
              <a:t>construct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simply</a:t>
            </a:r>
            <a:r>
              <a:rPr lang="pt-BR" dirty="0"/>
              <a:t> a </a:t>
            </a:r>
            <a:r>
              <a:rPr lang="pt-BR" dirty="0" err="1"/>
              <a:t>class</a:t>
            </a:r>
            <a:r>
              <a:rPr lang="pt-BR" dirty="0"/>
              <a:t> in </a:t>
            </a:r>
            <a:r>
              <a:rPr lang="pt-BR" dirty="0" err="1"/>
              <a:t>your</a:t>
            </a:r>
            <a:r>
              <a:rPr lang="pt-BR" dirty="0"/>
              <a:t> </a:t>
            </a:r>
            <a:r>
              <a:rPr lang="pt-BR" dirty="0" err="1"/>
              <a:t>language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choice</a:t>
            </a:r>
            <a:r>
              <a:rPr lang="pt-BR" dirty="0"/>
              <a:t> — </a:t>
            </a:r>
            <a:r>
              <a:rPr lang="pt-BR" dirty="0" err="1"/>
              <a:t>TypeScript</a:t>
            </a:r>
            <a:r>
              <a:rPr lang="pt-BR" dirty="0"/>
              <a:t>, Python, Go, Java. It </a:t>
            </a:r>
            <a:r>
              <a:rPr lang="pt-BR" dirty="0" err="1"/>
              <a:t>represents</a:t>
            </a:r>
            <a:r>
              <a:rPr lang="pt-BR" dirty="0"/>
              <a:t> a </a:t>
            </a:r>
            <a:r>
              <a:rPr lang="pt-BR" dirty="0" err="1"/>
              <a:t>Kubernetes</a:t>
            </a:r>
            <a:r>
              <a:rPr lang="pt-BR" dirty="0"/>
              <a:t> </a:t>
            </a:r>
            <a:r>
              <a:rPr lang="pt-BR" dirty="0" err="1"/>
              <a:t>resource</a:t>
            </a:r>
            <a:r>
              <a:rPr lang="pt-BR" dirty="0"/>
              <a:t> like a Deployment, Service, </a:t>
            </a:r>
            <a:r>
              <a:rPr lang="pt-BR" dirty="0" err="1"/>
              <a:t>or</a:t>
            </a:r>
            <a:r>
              <a:rPr lang="pt-BR" dirty="0"/>
              <a:t> </a:t>
            </a:r>
            <a:r>
              <a:rPr lang="pt-BR" dirty="0" err="1"/>
              <a:t>ConfigMap</a:t>
            </a:r>
            <a:r>
              <a:rPr lang="pt-BR" dirty="0"/>
              <a:t>, </a:t>
            </a:r>
            <a:r>
              <a:rPr lang="pt-BR" dirty="0" err="1"/>
              <a:t>instantiated</a:t>
            </a:r>
            <a:r>
              <a:rPr lang="pt-BR" dirty="0"/>
              <a:t> </a:t>
            </a:r>
            <a:r>
              <a:rPr lang="pt-BR" dirty="0" err="1"/>
              <a:t>with</a:t>
            </a:r>
            <a:r>
              <a:rPr lang="pt-BR" dirty="0"/>
              <a:t> a </a:t>
            </a:r>
            <a:r>
              <a:rPr lang="pt-BR" dirty="0" err="1"/>
              <a:t>scope</a:t>
            </a:r>
            <a:r>
              <a:rPr lang="pt-BR" dirty="0"/>
              <a:t>, </a:t>
            </a:r>
            <a:r>
              <a:rPr lang="pt-BR" dirty="0" err="1"/>
              <a:t>an</a:t>
            </a:r>
            <a:r>
              <a:rPr lang="pt-BR" dirty="0"/>
              <a:t> ID, </a:t>
            </a:r>
            <a:r>
              <a:rPr lang="pt-BR" dirty="0" err="1"/>
              <a:t>and</a:t>
            </a:r>
            <a:r>
              <a:rPr lang="pt-BR" dirty="0"/>
              <a:t> its </a:t>
            </a:r>
            <a:r>
              <a:rPr lang="pt-BR" dirty="0" err="1"/>
              <a:t>configuration</a:t>
            </a:r>
            <a:r>
              <a:rPr lang="pt-BR" dirty="0"/>
              <a:t>.</a:t>
            </a:r>
          </a:p>
          <a:p>
            <a:r>
              <a:rPr lang="pt-BR" dirty="0" err="1"/>
              <a:t>Constructs</a:t>
            </a:r>
            <a:r>
              <a:rPr lang="pt-BR" dirty="0"/>
              <a:t> are </a:t>
            </a:r>
            <a:r>
              <a:rPr lang="pt-BR" dirty="0" err="1"/>
              <a:t>organized</a:t>
            </a:r>
            <a:r>
              <a:rPr lang="pt-BR" dirty="0"/>
              <a:t> </a:t>
            </a:r>
            <a:r>
              <a:rPr lang="pt-BR" dirty="0" err="1"/>
              <a:t>into</a:t>
            </a:r>
            <a:r>
              <a:rPr lang="pt-BR" dirty="0"/>
              <a:t> </a:t>
            </a:r>
            <a:r>
              <a:rPr lang="pt-BR" dirty="0" err="1"/>
              <a:t>three</a:t>
            </a:r>
            <a:r>
              <a:rPr lang="pt-BR" dirty="0"/>
              <a:t> </a:t>
            </a:r>
            <a:r>
              <a:rPr lang="pt-BR" dirty="0" err="1"/>
              <a:t>abstraction</a:t>
            </a:r>
            <a:r>
              <a:rPr lang="pt-BR" dirty="0"/>
              <a:t> </a:t>
            </a:r>
            <a:r>
              <a:rPr lang="pt-BR" dirty="0" err="1"/>
              <a:t>levels</a:t>
            </a:r>
            <a:r>
              <a:rPr lang="pt-BR" dirty="0"/>
              <a:t>:</a:t>
            </a:r>
          </a:p>
          <a:p>
            <a:r>
              <a:rPr lang="pt-BR" b="1" dirty="0"/>
              <a:t>L1</a:t>
            </a:r>
            <a:r>
              <a:rPr lang="pt-BR" dirty="0"/>
              <a:t> — </a:t>
            </a:r>
            <a:r>
              <a:rPr lang="pt-BR" dirty="0" err="1"/>
              <a:t>auto-generated</a:t>
            </a:r>
            <a:r>
              <a:rPr lang="pt-BR" dirty="0"/>
              <a:t> </a:t>
            </a:r>
            <a:r>
              <a:rPr lang="pt-BR" dirty="0" err="1"/>
              <a:t>directly</a:t>
            </a:r>
            <a:r>
              <a:rPr lang="pt-BR" dirty="0"/>
              <a:t> </a:t>
            </a:r>
            <a:r>
              <a:rPr lang="pt-BR" dirty="0" err="1"/>
              <a:t>from</a:t>
            </a:r>
            <a:r>
              <a:rPr lang="pt-BR" dirty="0"/>
              <a:t> </a:t>
            </a:r>
            <a:r>
              <a:rPr lang="pt-BR" dirty="0" err="1"/>
              <a:t>Kubernetes</a:t>
            </a:r>
            <a:r>
              <a:rPr lang="pt-BR" dirty="0"/>
              <a:t> </a:t>
            </a:r>
            <a:r>
              <a:rPr lang="pt-BR" dirty="0" err="1"/>
              <a:t>CRDs</a:t>
            </a:r>
            <a:r>
              <a:rPr lang="pt-BR" dirty="0"/>
              <a:t>. A 1:1 mapping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raw</a:t>
            </a:r>
            <a:r>
              <a:rPr lang="pt-BR" dirty="0"/>
              <a:t> YAML, </a:t>
            </a:r>
            <a:r>
              <a:rPr lang="pt-BR" dirty="0" err="1"/>
              <a:t>giving</a:t>
            </a:r>
            <a:r>
              <a:rPr lang="pt-BR" dirty="0"/>
              <a:t> </a:t>
            </a:r>
            <a:r>
              <a:rPr lang="pt-BR" dirty="0" err="1"/>
              <a:t>you</a:t>
            </a:r>
            <a:r>
              <a:rPr lang="pt-BR" dirty="0"/>
              <a:t> </a:t>
            </a:r>
            <a:r>
              <a:rPr lang="pt-BR" dirty="0" err="1"/>
              <a:t>maximum</a:t>
            </a:r>
            <a:r>
              <a:rPr lang="pt-BR" dirty="0"/>
              <a:t> </a:t>
            </a:r>
            <a:r>
              <a:rPr lang="pt-BR" dirty="0" err="1"/>
              <a:t>control</a:t>
            </a:r>
            <a:r>
              <a:rPr lang="pt-BR" dirty="0"/>
              <a:t> </a:t>
            </a:r>
            <a:r>
              <a:rPr lang="pt-BR" dirty="0" err="1"/>
              <a:t>but</a:t>
            </a:r>
            <a:r>
              <a:rPr lang="pt-BR" dirty="0"/>
              <a:t> </a:t>
            </a:r>
            <a:r>
              <a:rPr lang="pt-BR" dirty="0" err="1"/>
              <a:t>maximum</a:t>
            </a:r>
            <a:r>
              <a:rPr lang="pt-BR" dirty="0"/>
              <a:t> </a:t>
            </a:r>
            <a:r>
              <a:rPr lang="pt-BR" dirty="0" err="1"/>
              <a:t>verbosity</a:t>
            </a:r>
            <a:r>
              <a:rPr lang="pt-BR" dirty="0"/>
              <a:t>.</a:t>
            </a:r>
          </a:p>
          <a:p>
            <a:r>
              <a:rPr lang="pt-BR" b="1" dirty="0"/>
              <a:t>L2</a:t>
            </a:r>
            <a:r>
              <a:rPr lang="pt-BR" dirty="0"/>
              <a:t> — </a:t>
            </a:r>
            <a:r>
              <a:rPr lang="pt-BR" dirty="0" err="1"/>
              <a:t>higher-level</a:t>
            </a:r>
            <a:r>
              <a:rPr lang="pt-BR" dirty="0"/>
              <a:t> </a:t>
            </a:r>
            <a:r>
              <a:rPr lang="pt-BR" dirty="0" err="1"/>
              <a:t>abstractions</a:t>
            </a:r>
            <a:r>
              <a:rPr lang="pt-BR" dirty="0"/>
              <a:t> </a:t>
            </a:r>
            <a:r>
              <a:rPr lang="pt-BR" dirty="0" err="1"/>
              <a:t>from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cdk8s+</a:t>
            </a:r>
            <a:r>
              <a:rPr lang="pt-BR" dirty="0"/>
              <a:t> </a:t>
            </a:r>
            <a:r>
              <a:rPr lang="pt-BR" dirty="0" err="1"/>
              <a:t>library</a:t>
            </a:r>
            <a:r>
              <a:rPr lang="pt-BR" dirty="0"/>
              <a:t>, </a:t>
            </a:r>
            <a:r>
              <a:rPr lang="pt-BR" dirty="0" err="1"/>
              <a:t>with</a:t>
            </a:r>
            <a:r>
              <a:rPr lang="pt-BR" dirty="0"/>
              <a:t> </a:t>
            </a:r>
            <a:r>
              <a:rPr lang="pt-BR" dirty="0" err="1"/>
              <a:t>sensible</a:t>
            </a:r>
            <a:r>
              <a:rPr lang="pt-BR" dirty="0"/>
              <a:t> defaults </a:t>
            </a:r>
            <a:r>
              <a:rPr lang="pt-BR" dirty="0" err="1"/>
              <a:t>built</a:t>
            </a:r>
            <a:r>
              <a:rPr lang="pt-BR" dirty="0"/>
              <a:t> in. </a:t>
            </a:r>
            <a:r>
              <a:rPr lang="pt-BR" dirty="0" err="1"/>
              <a:t>You</a:t>
            </a:r>
            <a:r>
              <a:rPr lang="pt-BR" dirty="0"/>
              <a:t> define </a:t>
            </a:r>
            <a:r>
              <a:rPr lang="pt-BR" dirty="0" err="1"/>
              <a:t>what</a:t>
            </a:r>
            <a:r>
              <a:rPr lang="pt-BR" dirty="0"/>
              <a:t> </a:t>
            </a:r>
            <a:r>
              <a:rPr lang="pt-BR" dirty="0" err="1"/>
              <a:t>matters</a:t>
            </a:r>
            <a:r>
              <a:rPr lang="pt-BR" dirty="0"/>
              <a:t>;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details</a:t>
            </a:r>
            <a:r>
              <a:rPr lang="pt-BR" dirty="0"/>
              <a:t> are </a:t>
            </a:r>
            <a:r>
              <a:rPr lang="pt-BR" dirty="0" err="1"/>
              <a:t>filled</a:t>
            </a:r>
            <a:r>
              <a:rPr lang="pt-BR" dirty="0"/>
              <a:t> in for </a:t>
            </a:r>
            <a:r>
              <a:rPr lang="pt-BR" dirty="0" err="1"/>
              <a:t>you</a:t>
            </a:r>
            <a:r>
              <a:rPr lang="pt-BR" dirty="0"/>
              <a:t>.</a:t>
            </a:r>
          </a:p>
          <a:p>
            <a:r>
              <a:rPr lang="pt-BR" b="1" dirty="0"/>
              <a:t>L3</a:t>
            </a:r>
            <a:r>
              <a:rPr lang="pt-BR" dirty="0"/>
              <a:t> — </a:t>
            </a:r>
            <a:r>
              <a:rPr lang="pt-BR" dirty="0" err="1"/>
              <a:t>custom</a:t>
            </a:r>
            <a:r>
              <a:rPr lang="pt-BR" dirty="0"/>
              <a:t> </a:t>
            </a:r>
            <a:r>
              <a:rPr lang="pt-BR" dirty="0" err="1"/>
              <a:t>constructs</a:t>
            </a:r>
            <a:r>
              <a:rPr lang="pt-BR" dirty="0"/>
              <a:t> </a:t>
            </a:r>
            <a:r>
              <a:rPr lang="pt-BR" dirty="0" err="1"/>
              <a:t>you</a:t>
            </a:r>
            <a:r>
              <a:rPr lang="pt-BR" dirty="0"/>
              <a:t> build </a:t>
            </a:r>
            <a:r>
              <a:rPr lang="pt-BR" dirty="0" err="1"/>
              <a:t>by</a:t>
            </a:r>
            <a:r>
              <a:rPr lang="pt-BR" dirty="0"/>
              <a:t> </a:t>
            </a:r>
            <a:r>
              <a:rPr lang="pt-BR" dirty="0" err="1"/>
              <a:t>combining</a:t>
            </a:r>
            <a:r>
              <a:rPr lang="pt-BR" dirty="0"/>
              <a:t> L1 </a:t>
            </a:r>
            <a:r>
              <a:rPr lang="pt-BR" dirty="0" err="1"/>
              <a:t>and</a:t>
            </a:r>
            <a:r>
              <a:rPr lang="pt-BR" dirty="0"/>
              <a:t> L2. For </a:t>
            </a:r>
            <a:r>
              <a:rPr lang="pt-BR" dirty="0" err="1"/>
              <a:t>example</a:t>
            </a:r>
            <a:r>
              <a:rPr lang="pt-BR" dirty="0"/>
              <a:t>, a 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WebApp</a:t>
            </a:r>
            <a:r>
              <a:rPr lang="pt-BR" dirty="0"/>
              <a:t> </a:t>
            </a:r>
            <a:r>
              <a:rPr lang="pt-BR" dirty="0" err="1"/>
              <a:t>construct</a:t>
            </a:r>
            <a:r>
              <a:rPr lang="pt-BR" dirty="0"/>
              <a:t> </a:t>
            </a:r>
            <a:r>
              <a:rPr lang="pt-BR" dirty="0" err="1"/>
              <a:t>that</a:t>
            </a:r>
            <a:r>
              <a:rPr lang="pt-BR" dirty="0"/>
              <a:t> </a:t>
            </a:r>
            <a:r>
              <a:rPr lang="pt-BR" dirty="0" err="1"/>
              <a:t>packages</a:t>
            </a:r>
            <a:r>
              <a:rPr lang="pt-BR" dirty="0"/>
              <a:t> a Deployment, Service, </a:t>
            </a:r>
            <a:r>
              <a:rPr lang="pt-BR" dirty="0" err="1"/>
              <a:t>and</a:t>
            </a:r>
            <a:r>
              <a:rPr lang="pt-BR" dirty="0"/>
              <a:t> HPA </a:t>
            </a:r>
            <a:r>
              <a:rPr lang="pt-BR" dirty="0" err="1"/>
              <a:t>together</a:t>
            </a:r>
            <a:r>
              <a:rPr lang="pt-BR" dirty="0"/>
              <a:t> </a:t>
            </a:r>
            <a:r>
              <a:rPr lang="pt-BR" dirty="0" err="1"/>
              <a:t>with</a:t>
            </a:r>
            <a:r>
              <a:rPr lang="pt-BR" dirty="0"/>
              <a:t> </a:t>
            </a:r>
            <a:r>
              <a:rPr lang="pt-BR" dirty="0" err="1"/>
              <a:t>your</a:t>
            </a:r>
            <a:r>
              <a:rPr lang="pt-BR" dirty="0"/>
              <a:t> </a:t>
            </a:r>
            <a:r>
              <a:rPr lang="pt-BR" dirty="0" err="1"/>
              <a:t>team's</a:t>
            </a:r>
            <a:r>
              <a:rPr lang="pt-BR" dirty="0"/>
              <a:t> </a:t>
            </a:r>
            <a:r>
              <a:rPr lang="pt-BR" dirty="0" err="1"/>
              <a:t>conventions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The </a:t>
            </a:r>
            <a:r>
              <a:rPr lang="pt-BR" dirty="0" err="1"/>
              <a:t>hierarchy</a:t>
            </a:r>
            <a:r>
              <a:rPr lang="pt-BR" dirty="0"/>
              <a:t> </a:t>
            </a:r>
            <a:r>
              <a:rPr lang="pt-BR" dirty="0" err="1"/>
              <a:t>works</a:t>
            </a:r>
            <a:r>
              <a:rPr lang="pt-BR" dirty="0"/>
              <a:t> as follows: </a:t>
            </a:r>
            <a:r>
              <a:rPr lang="pt-BR" b="1" dirty="0"/>
              <a:t>App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root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construct</a:t>
            </a:r>
            <a:r>
              <a:rPr lang="pt-BR" dirty="0"/>
              <a:t> </a:t>
            </a:r>
            <a:r>
              <a:rPr lang="pt-BR" dirty="0" err="1"/>
              <a:t>tree</a:t>
            </a:r>
            <a:r>
              <a:rPr lang="pt-BR" dirty="0"/>
              <a:t>. It </a:t>
            </a:r>
            <a:r>
              <a:rPr lang="pt-BR" dirty="0" err="1"/>
              <a:t>holds</a:t>
            </a:r>
            <a:r>
              <a:rPr lang="pt-BR" dirty="0"/>
              <a:t> </a:t>
            </a:r>
            <a:r>
              <a:rPr lang="pt-BR" dirty="0" err="1"/>
              <a:t>one</a:t>
            </a:r>
            <a:r>
              <a:rPr lang="pt-BR" dirty="0"/>
              <a:t> </a:t>
            </a:r>
            <a:r>
              <a:rPr lang="pt-BR" dirty="0" err="1"/>
              <a:t>or</a:t>
            </a:r>
            <a:r>
              <a:rPr lang="pt-BR" dirty="0"/>
              <a:t> more </a:t>
            </a:r>
            <a:r>
              <a:rPr lang="pt-BR" b="1" dirty="0" err="1"/>
              <a:t>Charts</a:t>
            </a:r>
            <a:r>
              <a:rPr lang="pt-BR" dirty="0"/>
              <a:t>,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each</a:t>
            </a:r>
            <a:r>
              <a:rPr lang="pt-BR" dirty="0"/>
              <a:t> Chart </a:t>
            </a:r>
            <a:r>
              <a:rPr lang="pt-BR" dirty="0" err="1"/>
              <a:t>groups</a:t>
            </a:r>
            <a:r>
              <a:rPr lang="pt-BR" dirty="0"/>
              <a:t> </a:t>
            </a:r>
            <a:r>
              <a:rPr lang="pt-BR" dirty="0" err="1"/>
              <a:t>related</a:t>
            </a:r>
            <a:r>
              <a:rPr lang="pt-BR" dirty="0"/>
              <a:t> </a:t>
            </a:r>
            <a:r>
              <a:rPr lang="pt-BR" dirty="0" err="1"/>
              <a:t>constructs</a:t>
            </a:r>
            <a:r>
              <a:rPr lang="pt-BR" dirty="0"/>
              <a:t>. Running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cdk8s 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synth</a:t>
            </a:r>
            <a:r>
              <a:rPr lang="pt-BR" dirty="0"/>
              <a:t> compiles </a:t>
            </a:r>
            <a:r>
              <a:rPr lang="pt-BR" dirty="0" err="1"/>
              <a:t>each</a:t>
            </a:r>
            <a:r>
              <a:rPr lang="pt-BR" dirty="0"/>
              <a:t> Chart </a:t>
            </a:r>
            <a:r>
              <a:rPr lang="pt-BR" dirty="0" err="1"/>
              <a:t>into</a:t>
            </a:r>
            <a:r>
              <a:rPr lang="pt-BR" dirty="0"/>
              <a:t> a </a:t>
            </a:r>
            <a:r>
              <a:rPr lang="pt-BR" dirty="0" err="1"/>
              <a:t>separate</a:t>
            </a:r>
            <a:r>
              <a:rPr lang="pt-BR" dirty="0"/>
              <a:t> YAML file, </a:t>
            </a:r>
            <a:r>
              <a:rPr lang="pt-BR" dirty="0" err="1"/>
              <a:t>ready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be</a:t>
            </a:r>
            <a:r>
              <a:rPr lang="pt-BR" dirty="0"/>
              <a:t> </a:t>
            </a:r>
            <a:r>
              <a:rPr lang="pt-BR" dirty="0" err="1"/>
              <a:t>applied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cluster.</a:t>
            </a:r>
          </a:p>
          <a:p>
            <a:r>
              <a:rPr lang="pt-BR" dirty="0" err="1"/>
              <a:t>Think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it like </a:t>
            </a:r>
            <a:r>
              <a:rPr lang="pt-BR" dirty="0" err="1"/>
              <a:t>React</a:t>
            </a:r>
            <a:r>
              <a:rPr lang="pt-BR" dirty="0"/>
              <a:t> — </a:t>
            </a:r>
            <a:r>
              <a:rPr lang="pt-BR" dirty="0" err="1"/>
              <a:t>just</a:t>
            </a:r>
            <a:r>
              <a:rPr lang="pt-BR" dirty="0"/>
              <a:t> as </a:t>
            </a:r>
            <a:r>
              <a:rPr lang="pt-BR" dirty="0" err="1"/>
              <a:t>components</a:t>
            </a:r>
            <a:r>
              <a:rPr lang="pt-BR" dirty="0"/>
              <a:t> </a:t>
            </a:r>
            <a:r>
              <a:rPr lang="pt-BR" dirty="0" err="1"/>
              <a:t>represent</a:t>
            </a:r>
            <a:r>
              <a:rPr lang="pt-BR" dirty="0"/>
              <a:t> </a:t>
            </a:r>
            <a:r>
              <a:rPr lang="pt-BR" dirty="0" err="1"/>
              <a:t>pieces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UI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compose</a:t>
            </a:r>
            <a:r>
              <a:rPr lang="pt-BR" dirty="0"/>
              <a:t> </a:t>
            </a:r>
            <a:r>
              <a:rPr lang="pt-BR" dirty="0" err="1"/>
              <a:t>into</a:t>
            </a:r>
            <a:r>
              <a:rPr lang="pt-BR" dirty="0"/>
              <a:t> full interfaces, </a:t>
            </a:r>
            <a:r>
              <a:rPr lang="pt-BR" dirty="0" err="1"/>
              <a:t>constructs</a:t>
            </a:r>
            <a:r>
              <a:rPr lang="pt-BR" dirty="0"/>
              <a:t> </a:t>
            </a:r>
            <a:r>
              <a:rPr lang="pt-BR" dirty="0" err="1"/>
              <a:t>represent</a:t>
            </a:r>
            <a:r>
              <a:rPr lang="pt-BR" dirty="0"/>
              <a:t> </a:t>
            </a:r>
            <a:r>
              <a:rPr lang="pt-BR" dirty="0" err="1"/>
              <a:t>infrastructure</a:t>
            </a:r>
            <a:r>
              <a:rPr lang="pt-BR" dirty="0"/>
              <a:t> </a:t>
            </a:r>
            <a:r>
              <a:rPr lang="pt-BR" dirty="0" err="1"/>
              <a:t>resources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compose</a:t>
            </a:r>
            <a:r>
              <a:rPr lang="pt-BR" dirty="0"/>
              <a:t> </a:t>
            </a:r>
            <a:r>
              <a:rPr lang="pt-BR" dirty="0" err="1"/>
              <a:t>into</a:t>
            </a:r>
            <a:r>
              <a:rPr lang="pt-BR" dirty="0"/>
              <a:t> complete </a:t>
            </a:r>
            <a:r>
              <a:rPr lang="pt-BR" dirty="0" err="1"/>
              <a:t>Kubernetes</a:t>
            </a:r>
            <a:r>
              <a:rPr lang="pt-BR" dirty="0"/>
              <a:t> </a:t>
            </a:r>
            <a:r>
              <a:rPr lang="pt-BR" dirty="0" err="1"/>
              <a:t>applications</a:t>
            </a:r>
            <a:r>
              <a:rPr lang="pt-BR" dirty="0"/>
              <a:t>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1F6240C-A4BD-A49A-2396-1D53A536F4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43C8C9-70B0-4949-BF2F-5B48EED42C45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56582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310BB-0EF6-DB67-34EC-0E551DD80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2828F26-C420-5226-3320-A5DB52D927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4133A99-3465-8FEC-A941-FAB9A1A2E3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pt-BR" b="0" dirty="0"/>
            </a:br>
            <a:r>
              <a:rPr lang="pt-BR" b="0" dirty="0"/>
              <a:t>0:30 </a:t>
            </a:r>
            <a:r>
              <a:rPr lang="pt-BR" b="0" dirty="0" err="1"/>
              <a:t>Construct</a:t>
            </a:r>
            <a:r>
              <a:rPr lang="pt-BR" b="0" dirty="0"/>
              <a:t> </a:t>
            </a:r>
            <a:r>
              <a:rPr lang="pt-BR" b="0" dirty="0" err="1"/>
              <a:t>is</a:t>
            </a:r>
            <a:r>
              <a:rPr lang="pt-BR" b="0" dirty="0"/>
              <a:t> </a:t>
            </a:r>
            <a:r>
              <a:rPr lang="pt-BR" b="0" dirty="0" err="1"/>
              <a:t>another</a:t>
            </a:r>
            <a:r>
              <a:rPr lang="pt-BR" b="0" dirty="0"/>
              <a:t> </a:t>
            </a:r>
            <a:r>
              <a:rPr lang="pt-BR" b="0" dirty="0" err="1"/>
              <a:t>opensource</a:t>
            </a:r>
            <a:r>
              <a:rPr lang="pt-BR" b="0" dirty="0"/>
              <a:t> classe </a:t>
            </a:r>
            <a:r>
              <a:rPr lang="pt-BR" b="0" dirty="0" err="1"/>
              <a:t>mainteined</a:t>
            </a:r>
            <a:r>
              <a:rPr lang="pt-BR" b="0" dirty="0"/>
              <a:t> </a:t>
            </a:r>
            <a:r>
              <a:rPr lang="pt-BR" b="0" dirty="0" err="1"/>
              <a:t>by</a:t>
            </a:r>
            <a:r>
              <a:rPr lang="pt-BR" b="0" dirty="0"/>
              <a:t> AWS.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DADB68C-1ABB-6AE0-B360-6ACF888A81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43C8C9-70B0-4949-BF2F-5B48EED42C45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43781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10785-A6E3-8609-3F8C-617433607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4517D8B-3EE0-14A1-F2E3-B93AB4BA90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B5D2E41-9A77-F812-CA3E-F61547DCA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  <a:p>
            <a:r>
              <a:rPr lang="pt-BR" dirty="0"/>
              <a:t>2:00 </a:t>
            </a:r>
            <a:r>
              <a:rPr lang="pt-BR" dirty="0" err="1"/>
              <a:t>Once</a:t>
            </a:r>
            <a:r>
              <a:rPr lang="pt-BR" dirty="0"/>
              <a:t> </a:t>
            </a:r>
            <a:r>
              <a:rPr lang="pt-BR" dirty="0" err="1"/>
              <a:t>our</a:t>
            </a:r>
            <a:r>
              <a:rPr lang="pt-BR" dirty="0"/>
              <a:t> </a:t>
            </a:r>
            <a:r>
              <a:rPr lang="pt-BR" dirty="0" err="1"/>
              <a:t>structure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defined</a:t>
            </a:r>
            <a:r>
              <a:rPr lang="pt-BR" dirty="0"/>
              <a:t>,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flow</a:t>
            </a:r>
            <a:r>
              <a:rPr lang="pt-BR" dirty="0"/>
              <a:t> </a:t>
            </a:r>
            <a:r>
              <a:rPr lang="pt-BR" dirty="0" err="1"/>
              <a:t>becomes</a:t>
            </a:r>
            <a:r>
              <a:rPr lang="pt-BR" dirty="0"/>
              <a:t> </a:t>
            </a:r>
            <a:r>
              <a:rPr lang="pt-BR" dirty="0" err="1"/>
              <a:t>straightforward</a:t>
            </a:r>
            <a:r>
              <a:rPr lang="pt-BR" dirty="0"/>
              <a:t>.</a:t>
            </a:r>
          </a:p>
          <a:p>
            <a:r>
              <a:rPr lang="pt-BR" dirty="0" err="1"/>
              <a:t>We</a:t>
            </a:r>
            <a:r>
              <a:rPr lang="pt-BR" dirty="0"/>
              <a:t> </a:t>
            </a:r>
            <a:r>
              <a:rPr lang="pt-BR" dirty="0" err="1"/>
              <a:t>write</a:t>
            </a:r>
            <a:r>
              <a:rPr lang="pt-BR" dirty="0"/>
              <a:t> </a:t>
            </a:r>
            <a:r>
              <a:rPr lang="pt-BR" dirty="0" err="1"/>
              <a:t>our</a:t>
            </a:r>
            <a:r>
              <a:rPr lang="pt-BR" dirty="0"/>
              <a:t> </a:t>
            </a:r>
            <a:r>
              <a:rPr lang="pt-BR" dirty="0" err="1"/>
              <a:t>template</a:t>
            </a:r>
            <a:r>
              <a:rPr lang="pt-BR" dirty="0"/>
              <a:t> </a:t>
            </a:r>
            <a:r>
              <a:rPr lang="pt-BR" b="0" dirty="0"/>
              <a:t>in </a:t>
            </a:r>
            <a:r>
              <a:rPr lang="pt-BR" b="0" dirty="0" err="1"/>
              <a:t>TypeScript</a:t>
            </a:r>
            <a:r>
              <a:rPr lang="pt-BR" b="0" dirty="0"/>
              <a:t>, go, </a:t>
            </a:r>
            <a:r>
              <a:rPr lang="pt-BR" b="0" dirty="0" err="1"/>
              <a:t>java</a:t>
            </a:r>
            <a:r>
              <a:rPr lang="pt-BR" b="0" dirty="0"/>
              <a:t>, </a:t>
            </a:r>
            <a:r>
              <a:rPr lang="pt-BR" b="0" dirty="0" err="1"/>
              <a:t>python</a:t>
            </a:r>
            <a:r>
              <a:rPr lang="pt-BR" b="0" dirty="0"/>
              <a:t> Javascript </a:t>
            </a:r>
            <a:r>
              <a:rPr lang="pt-BR" b="0" dirty="0" err="1"/>
              <a:t>all</a:t>
            </a:r>
            <a:r>
              <a:rPr lang="pt-BR" b="0" dirty="0"/>
              <a:t> </a:t>
            </a:r>
            <a:r>
              <a:rPr lang="pt-BR" b="0" dirty="0" err="1"/>
              <a:t>of</a:t>
            </a:r>
            <a:r>
              <a:rPr lang="pt-BR" b="0" dirty="0"/>
              <a:t> </a:t>
            </a:r>
            <a:r>
              <a:rPr lang="pt-BR" b="0" dirty="0" err="1"/>
              <a:t>this</a:t>
            </a:r>
            <a:r>
              <a:rPr lang="pt-BR" b="0" dirty="0"/>
              <a:t> </a:t>
            </a:r>
            <a:r>
              <a:rPr lang="pt-BR" b="0" dirty="0" err="1"/>
              <a:t>languages</a:t>
            </a:r>
            <a:r>
              <a:rPr lang="pt-BR" b="0" dirty="0"/>
              <a:t> are </a:t>
            </a:r>
            <a:r>
              <a:rPr lang="pt-BR" b="0" dirty="0" err="1"/>
              <a:t>supported</a:t>
            </a:r>
            <a:r>
              <a:rPr lang="pt-BR" b="0" dirty="0"/>
              <a:t> </a:t>
            </a:r>
            <a:r>
              <a:rPr lang="pt-BR" b="0" dirty="0" err="1"/>
              <a:t>by</a:t>
            </a:r>
            <a:r>
              <a:rPr lang="pt-BR" b="0" dirty="0"/>
              <a:t> cdk8s</a:t>
            </a:r>
          </a:p>
          <a:p>
            <a:endParaRPr lang="pt-BR" dirty="0"/>
          </a:p>
          <a:p>
            <a:r>
              <a:rPr lang="pt-BR" dirty="0" err="1"/>
              <a:t>But</a:t>
            </a:r>
            <a:r>
              <a:rPr lang="pt-BR" dirty="0"/>
              <a:t> </a:t>
            </a:r>
            <a:r>
              <a:rPr lang="pt-BR" dirty="0" err="1"/>
              <a:t>typescrpt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native</a:t>
            </a:r>
            <a:r>
              <a:rPr lang="pt-BR" dirty="0"/>
              <a:t> </a:t>
            </a:r>
            <a:r>
              <a:rPr lang="pt-BR" dirty="0" err="1"/>
              <a:t>language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CDK8s,  </a:t>
            </a:r>
            <a:r>
              <a:rPr lang="pt-BR" dirty="0" err="1"/>
              <a:t>then</a:t>
            </a:r>
            <a:r>
              <a:rPr lang="pt-BR" dirty="0"/>
              <a:t> </a:t>
            </a:r>
            <a:r>
              <a:rPr lang="pt-BR" dirty="0" err="1"/>
              <a:t>run</a:t>
            </a:r>
            <a:r>
              <a:rPr lang="pt-BR" dirty="0"/>
              <a:t> 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cdk8s 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synth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compile it. </a:t>
            </a:r>
          </a:p>
          <a:p>
            <a:endParaRPr lang="pt-BR" dirty="0"/>
          </a:p>
          <a:p>
            <a:r>
              <a:rPr lang="pt-BR" dirty="0" err="1"/>
              <a:t>Think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it as a render step: it processes </a:t>
            </a:r>
            <a:r>
              <a:rPr lang="pt-BR" dirty="0" err="1"/>
              <a:t>your</a:t>
            </a:r>
            <a:r>
              <a:rPr lang="pt-BR" dirty="0"/>
              <a:t> </a:t>
            </a:r>
            <a:r>
              <a:rPr lang="pt-BR" dirty="0" err="1"/>
              <a:t>code</a:t>
            </a:r>
            <a:r>
              <a:rPr lang="pt-BR" dirty="0"/>
              <a:t>, resolves </a:t>
            </a:r>
            <a:r>
              <a:rPr lang="pt-BR" dirty="0" err="1"/>
              <a:t>variables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libraries</a:t>
            </a:r>
            <a:r>
              <a:rPr lang="pt-BR" dirty="0"/>
              <a:t>, </a:t>
            </a:r>
            <a:r>
              <a:rPr lang="pt-BR" dirty="0" err="1"/>
              <a:t>and</a:t>
            </a:r>
            <a:r>
              <a:rPr lang="pt-BR" dirty="0"/>
              <a:t> outputs </a:t>
            </a:r>
            <a:r>
              <a:rPr lang="pt-BR" dirty="0" err="1"/>
              <a:t>the</a:t>
            </a:r>
            <a:r>
              <a:rPr lang="pt-BR" dirty="0"/>
              <a:t> final </a:t>
            </a:r>
            <a:r>
              <a:rPr lang="pt-BR" dirty="0" err="1"/>
              <a:t>Kubernetes</a:t>
            </a:r>
            <a:r>
              <a:rPr lang="pt-BR" dirty="0"/>
              <a:t> </a:t>
            </a:r>
            <a:r>
              <a:rPr lang="pt-BR" dirty="0" err="1"/>
              <a:t>manifests</a:t>
            </a:r>
            <a:r>
              <a:rPr lang="pt-BR" dirty="0"/>
              <a:t>.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 err="1"/>
              <a:t>If</a:t>
            </a:r>
            <a:r>
              <a:rPr lang="pt-BR" dirty="0"/>
              <a:t> </a:t>
            </a:r>
            <a:r>
              <a:rPr lang="pt-BR" dirty="0" err="1"/>
              <a:t>you're</a:t>
            </a:r>
            <a:r>
              <a:rPr lang="pt-BR" dirty="0"/>
              <a:t> </a:t>
            </a:r>
            <a:r>
              <a:rPr lang="pt-BR" dirty="0" err="1"/>
              <a:t>coming</a:t>
            </a:r>
            <a:r>
              <a:rPr lang="pt-BR" dirty="0"/>
              <a:t> </a:t>
            </a:r>
            <a:r>
              <a:rPr lang="pt-BR" dirty="0" err="1"/>
              <a:t>from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Helm world, </a:t>
            </a:r>
            <a:r>
              <a:rPr lang="pt-BR" dirty="0" err="1"/>
              <a:t>this</a:t>
            </a:r>
            <a:r>
              <a:rPr lang="pt-BR" dirty="0"/>
              <a:t> </a:t>
            </a:r>
            <a:r>
              <a:rPr lang="pt-BR" dirty="0" err="1"/>
              <a:t>part</a:t>
            </a:r>
            <a:r>
              <a:rPr lang="pt-BR" dirty="0"/>
              <a:t> </a:t>
            </a:r>
            <a:r>
              <a:rPr lang="pt-BR" dirty="0" err="1"/>
              <a:t>will</a:t>
            </a:r>
            <a:r>
              <a:rPr lang="pt-BR" dirty="0"/>
              <a:t> </a:t>
            </a:r>
            <a:r>
              <a:rPr lang="pt-BR" dirty="0" err="1"/>
              <a:t>feel</a:t>
            </a:r>
            <a:r>
              <a:rPr lang="pt-BR" dirty="0"/>
              <a:t> familiar</a:t>
            </a:r>
          </a:p>
          <a:p>
            <a:endParaRPr lang="pt-BR" dirty="0"/>
          </a:p>
          <a:p>
            <a:r>
              <a:rPr lang="pt-BR" dirty="0"/>
              <a:t> </a:t>
            </a:r>
            <a:r>
              <a:rPr lang="pt-BR" dirty="0" err="1"/>
              <a:t>it's</a:t>
            </a:r>
            <a:r>
              <a:rPr lang="pt-BR" dirty="0"/>
              <a:t> </a:t>
            </a:r>
            <a:r>
              <a:rPr lang="pt-BR" dirty="0" err="1"/>
              <a:t>essentially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same</a:t>
            </a:r>
            <a:r>
              <a:rPr lang="pt-BR" dirty="0"/>
              <a:t> </a:t>
            </a:r>
            <a:r>
              <a:rPr lang="pt-BR" dirty="0" err="1"/>
              <a:t>idea</a:t>
            </a:r>
            <a:r>
              <a:rPr lang="pt-BR" dirty="0"/>
              <a:t> as 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helm</a:t>
            </a:r>
            <a:r>
              <a:rPr lang="pt-B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pt-B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template</a:t>
            </a:r>
            <a:r>
              <a:rPr lang="pt-BR" dirty="0"/>
              <a:t>,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part. </a:t>
            </a:r>
          </a:p>
          <a:p>
            <a:endParaRPr lang="pt-B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dirty="0"/>
          </a:p>
          <a:p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have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some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conceps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its time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show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guys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it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works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pt-BR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practice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84C2747-6C36-A8CB-B935-1C10BB5E59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43C8C9-70B0-4949-BF2F-5B48EED42C45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105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397B5-5305-1C95-0420-54B66B829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E3B124A-C0D1-398E-5A9A-891D672D0A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AF6C8B8-17BD-FDE6-C29A-59C9DDA4D5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dirty="0"/>
              <a:t>8/10 minutes </a:t>
            </a:r>
          </a:p>
          <a:p>
            <a:endParaRPr lang="pt-BR" b="0" dirty="0"/>
          </a:p>
          <a:p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F6F72CF-4B41-C92B-877B-A03154F366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43C8C9-70B0-4949-BF2F-5B48EED42C45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64414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F0A666-1873-A96E-C512-06EE761A4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BFFC7A3-0A8F-8861-9127-7EEB51F996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B46219D-E8D0-13C6-3E65-D8421BD32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dirty="0"/>
              <a:t>2:00 </a:t>
            </a:r>
            <a:r>
              <a:rPr lang="pt-BR" b="0" dirty="0" err="1"/>
              <a:t>Is</a:t>
            </a:r>
            <a:r>
              <a:rPr lang="pt-BR" b="0" dirty="0"/>
              <a:t> </a:t>
            </a:r>
            <a:r>
              <a:rPr lang="pt-BR" b="0" dirty="0" err="1"/>
              <a:t>nice</a:t>
            </a:r>
            <a:r>
              <a:rPr lang="pt-BR" b="0" dirty="0"/>
              <a:t> </a:t>
            </a:r>
            <a:r>
              <a:rPr lang="pt-BR" b="0" dirty="0" err="1"/>
              <a:t>to</a:t>
            </a:r>
            <a:r>
              <a:rPr lang="pt-BR" b="0" dirty="0"/>
              <a:t> use </a:t>
            </a:r>
            <a:r>
              <a:rPr lang="pt-BR" b="0" dirty="0" err="1"/>
              <a:t>cdks</a:t>
            </a:r>
            <a:r>
              <a:rPr lang="pt-BR" b="0" dirty="0"/>
              <a:t> When </a:t>
            </a:r>
            <a:r>
              <a:rPr lang="pt-BR" b="0" dirty="0" err="1"/>
              <a:t>you</a:t>
            </a:r>
            <a:r>
              <a:rPr lang="pt-BR" b="0" dirty="0"/>
              <a:t> </a:t>
            </a:r>
            <a:r>
              <a:rPr lang="pt-BR" b="0" dirty="0" err="1"/>
              <a:t>have</a:t>
            </a:r>
            <a:r>
              <a:rPr lang="pt-BR" b="0" dirty="0"/>
              <a:t> </a:t>
            </a:r>
            <a:r>
              <a:rPr lang="pt-BR" b="0" dirty="0" err="1"/>
              <a:t>fixed</a:t>
            </a:r>
            <a:r>
              <a:rPr lang="pt-BR" b="0" dirty="0"/>
              <a:t> </a:t>
            </a:r>
            <a:r>
              <a:rPr lang="pt-BR" b="0" dirty="0" err="1"/>
              <a:t>manifests</a:t>
            </a:r>
            <a:r>
              <a:rPr lang="pt-BR" b="0" dirty="0"/>
              <a:t> in </a:t>
            </a:r>
            <a:r>
              <a:rPr lang="pt-BR" b="0" dirty="0" err="1"/>
              <a:t>distributed</a:t>
            </a:r>
            <a:r>
              <a:rPr lang="pt-BR" b="0" dirty="0"/>
              <a:t> </a:t>
            </a:r>
            <a:r>
              <a:rPr lang="pt-BR" b="0" dirty="0" err="1"/>
              <a:t>environments</a:t>
            </a:r>
            <a:r>
              <a:rPr lang="pt-BR" b="0" dirty="0"/>
              <a:t>, for </a:t>
            </a:r>
            <a:r>
              <a:rPr lang="pt-BR" b="0" dirty="0" err="1"/>
              <a:t>instance</a:t>
            </a:r>
            <a:r>
              <a:rPr lang="pt-BR" b="0" dirty="0"/>
              <a:t> </a:t>
            </a:r>
            <a:r>
              <a:rPr lang="pt-BR" b="0" dirty="0" err="1"/>
              <a:t>if</a:t>
            </a:r>
            <a:r>
              <a:rPr lang="pt-BR" b="0" dirty="0"/>
              <a:t> </a:t>
            </a:r>
            <a:r>
              <a:rPr lang="pt-BR" b="0" dirty="0" err="1"/>
              <a:t>you</a:t>
            </a:r>
            <a:r>
              <a:rPr lang="pt-BR" b="0" dirty="0"/>
              <a:t> </a:t>
            </a:r>
            <a:r>
              <a:rPr lang="pt-BR" b="0" dirty="0" err="1"/>
              <a:t>have</a:t>
            </a:r>
            <a:r>
              <a:rPr lang="pt-BR" b="0" dirty="0"/>
              <a:t> </a:t>
            </a:r>
            <a:r>
              <a:rPr lang="pt-BR" b="0" dirty="0" err="1"/>
              <a:t>dev</a:t>
            </a:r>
            <a:r>
              <a:rPr lang="pt-BR" b="0" dirty="0"/>
              <a:t>, </a:t>
            </a:r>
            <a:r>
              <a:rPr lang="pt-BR" b="0" dirty="0" err="1"/>
              <a:t>productio</a:t>
            </a:r>
            <a:r>
              <a:rPr lang="pt-BR" b="0" dirty="0"/>
              <a:t>, </a:t>
            </a:r>
            <a:r>
              <a:rPr lang="pt-BR" b="0" dirty="0" err="1"/>
              <a:t>stage</a:t>
            </a:r>
            <a:r>
              <a:rPr lang="pt-BR" b="0" dirty="0"/>
              <a:t> </a:t>
            </a:r>
          </a:p>
          <a:p>
            <a:r>
              <a:rPr lang="pt-BR" b="0" dirty="0" err="1"/>
              <a:t>You</a:t>
            </a:r>
            <a:r>
              <a:rPr lang="pt-BR" b="0" dirty="0"/>
              <a:t> </a:t>
            </a:r>
            <a:r>
              <a:rPr lang="pt-BR" b="0" dirty="0" err="1"/>
              <a:t>can</a:t>
            </a:r>
            <a:r>
              <a:rPr lang="pt-BR" b="0" dirty="0"/>
              <a:t> setup a folder in </a:t>
            </a:r>
            <a:r>
              <a:rPr lang="pt-BR" b="0" dirty="0" err="1"/>
              <a:t>your</a:t>
            </a:r>
            <a:r>
              <a:rPr lang="pt-BR" b="0" dirty="0"/>
              <a:t> app </a:t>
            </a:r>
            <a:r>
              <a:rPr lang="pt-BR" b="0" dirty="0" err="1"/>
              <a:t>with</a:t>
            </a:r>
            <a:r>
              <a:rPr lang="pt-BR" b="0" dirty="0"/>
              <a:t> some infra </a:t>
            </a:r>
            <a:r>
              <a:rPr lang="pt-BR" b="0" dirty="0" err="1"/>
              <a:t>templates</a:t>
            </a:r>
            <a:r>
              <a:rPr lang="pt-BR" b="0" dirty="0"/>
              <a:t> </a:t>
            </a:r>
            <a:r>
              <a:rPr lang="pt-BR" b="0" dirty="0" err="1"/>
              <a:t>and</a:t>
            </a:r>
            <a:r>
              <a:rPr lang="pt-BR" b="0" dirty="0"/>
              <a:t> </a:t>
            </a:r>
            <a:r>
              <a:rPr lang="pt-BR" b="0" dirty="0" err="1"/>
              <a:t>version</a:t>
            </a:r>
            <a:r>
              <a:rPr lang="pt-BR" b="0" dirty="0"/>
              <a:t> it in </a:t>
            </a:r>
            <a:r>
              <a:rPr lang="pt-BR" b="0" dirty="0" err="1"/>
              <a:t>your</a:t>
            </a:r>
            <a:r>
              <a:rPr lang="pt-BR" b="0" dirty="0"/>
              <a:t> </a:t>
            </a:r>
            <a:r>
              <a:rPr lang="pt-BR" b="0" dirty="0" err="1"/>
              <a:t>repo</a:t>
            </a:r>
            <a:r>
              <a:rPr lang="pt-BR" b="0" dirty="0"/>
              <a:t>, </a:t>
            </a:r>
          </a:p>
          <a:p>
            <a:endParaRPr lang="pt-BR" b="0" dirty="0"/>
          </a:p>
          <a:p>
            <a:r>
              <a:rPr lang="pt-BR" b="0" dirty="0" err="1"/>
              <a:t>Then</a:t>
            </a:r>
            <a:r>
              <a:rPr lang="pt-BR" b="0" dirty="0"/>
              <a:t> </a:t>
            </a:r>
            <a:r>
              <a:rPr lang="pt-BR" b="0" dirty="0" err="1"/>
              <a:t>all</a:t>
            </a:r>
            <a:r>
              <a:rPr lang="pt-BR" b="0" dirty="0"/>
              <a:t> </a:t>
            </a:r>
            <a:r>
              <a:rPr lang="pt-BR" b="0" dirty="0" err="1"/>
              <a:t>your</a:t>
            </a:r>
            <a:r>
              <a:rPr lang="pt-BR" b="0" dirty="0"/>
              <a:t> Jobs, </a:t>
            </a:r>
            <a:r>
              <a:rPr lang="pt-BR" b="0" dirty="0" err="1"/>
              <a:t>or</a:t>
            </a:r>
            <a:r>
              <a:rPr lang="pt-BR" b="0" dirty="0"/>
              <a:t> </a:t>
            </a:r>
            <a:r>
              <a:rPr lang="pt-BR" b="0" dirty="0" err="1"/>
              <a:t>action</a:t>
            </a:r>
            <a:r>
              <a:rPr lang="pt-BR" b="0" dirty="0"/>
              <a:t> </a:t>
            </a:r>
            <a:r>
              <a:rPr lang="pt-BR" b="0" dirty="0" err="1"/>
              <a:t>could</a:t>
            </a:r>
            <a:r>
              <a:rPr lang="pt-BR" b="0" dirty="0"/>
              <a:t> </a:t>
            </a:r>
            <a:r>
              <a:rPr lang="pt-BR" b="0" dirty="0" err="1"/>
              <a:t>apply</a:t>
            </a:r>
            <a:r>
              <a:rPr lang="pt-BR" b="0" dirty="0"/>
              <a:t> it.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58A19AF-44F6-3349-3A96-A1DB7B4118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43C8C9-70B0-4949-BF2F-5B48EED42C45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36238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D4A1F-2102-120B-9901-97E2C602D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7A4B3B5-EC89-6E53-A82A-EE0E1815DF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4B8D7A00-F187-00A3-0AFF-A4DD1B65D7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dirty="0"/>
              <a:t>1:00 </a:t>
            </a:r>
            <a:r>
              <a:rPr lang="pt-BR" b="0" dirty="0" err="1"/>
              <a:t>another</a:t>
            </a:r>
            <a:r>
              <a:rPr lang="pt-BR" b="0" dirty="0"/>
              <a:t> </a:t>
            </a:r>
            <a:r>
              <a:rPr lang="pt-BR" b="0" dirty="0" err="1"/>
              <a:t>way</a:t>
            </a:r>
            <a:r>
              <a:rPr lang="pt-BR" b="0" dirty="0"/>
              <a:t> </a:t>
            </a:r>
            <a:r>
              <a:rPr lang="pt-BR" b="0" dirty="0" err="1"/>
              <a:t>to</a:t>
            </a:r>
            <a:r>
              <a:rPr lang="pt-BR" b="0" dirty="0"/>
              <a:t> use </a:t>
            </a:r>
            <a:r>
              <a:rPr lang="pt-BR" b="0" dirty="0" err="1"/>
              <a:t>is</a:t>
            </a:r>
            <a:r>
              <a:rPr lang="pt-BR" b="0" dirty="0"/>
              <a:t> </a:t>
            </a:r>
            <a:r>
              <a:rPr lang="pt-BR" b="0" dirty="0" err="1"/>
              <a:t>with</a:t>
            </a:r>
            <a:r>
              <a:rPr lang="pt-BR" b="0" dirty="0"/>
              <a:t> </a:t>
            </a:r>
            <a:r>
              <a:rPr lang="pt-BR" b="0" dirty="0" err="1"/>
              <a:t>GitOps</a:t>
            </a:r>
            <a:endParaRPr lang="pt-BR" b="0" dirty="0"/>
          </a:p>
          <a:p>
            <a:endParaRPr lang="pt-BR" b="0" dirty="0"/>
          </a:p>
          <a:p>
            <a:r>
              <a:rPr lang="pt-BR" b="0" dirty="0" err="1"/>
              <a:t>You</a:t>
            </a:r>
            <a:r>
              <a:rPr lang="pt-BR" b="0" dirty="0"/>
              <a:t> </a:t>
            </a:r>
            <a:r>
              <a:rPr lang="pt-BR" b="0" dirty="0" err="1"/>
              <a:t>can</a:t>
            </a:r>
            <a:r>
              <a:rPr lang="pt-BR" b="0" dirty="0"/>
              <a:t> </a:t>
            </a:r>
            <a:r>
              <a:rPr lang="pt-BR" b="0" dirty="0" err="1"/>
              <a:t>let</a:t>
            </a:r>
            <a:r>
              <a:rPr lang="pt-BR" b="0" dirty="0"/>
              <a:t> </a:t>
            </a:r>
            <a:r>
              <a:rPr lang="pt-BR" b="0" dirty="0" err="1"/>
              <a:t>your</a:t>
            </a:r>
            <a:r>
              <a:rPr lang="pt-BR" b="0" dirty="0"/>
              <a:t> </a:t>
            </a:r>
            <a:r>
              <a:rPr lang="pt-BR" b="0" dirty="0" err="1"/>
              <a:t>chart</a:t>
            </a:r>
            <a:r>
              <a:rPr lang="pt-BR" b="0" dirty="0"/>
              <a:t> </a:t>
            </a:r>
            <a:r>
              <a:rPr lang="pt-BR" b="0" dirty="0" err="1"/>
              <a:t>synth</a:t>
            </a:r>
            <a:r>
              <a:rPr lang="pt-BR" b="0" dirty="0"/>
              <a:t> </a:t>
            </a:r>
            <a:r>
              <a:rPr lang="pt-BR" b="0" dirty="0" err="1"/>
              <a:t>into</a:t>
            </a:r>
            <a:r>
              <a:rPr lang="pt-BR" b="0" dirty="0"/>
              <a:t> a </a:t>
            </a:r>
            <a:r>
              <a:rPr lang="pt-BR" b="0" dirty="0" err="1"/>
              <a:t>manifest</a:t>
            </a:r>
            <a:r>
              <a:rPr lang="pt-BR" b="0" dirty="0"/>
              <a:t> </a:t>
            </a:r>
            <a:r>
              <a:rPr lang="pt-BR" b="0" dirty="0" err="1"/>
              <a:t>and</a:t>
            </a:r>
            <a:r>
              <a:rPr lang="pt-BR" b="0" dirty="0"/>
              <a:t> </a:t>
            </a:r>
            <a:r>
              <a:rPr lang="pt-BR" b="0" dirty="0" err="1"/>
              <a:t>let</a:t>
            </a:r>
            <a:r>
              <a:rPr lang="pt-BR" b="0" dirty="0"/>
              <a:t> </a:t>
            </a:r>
            <a:r>
              <a:rPr lang="pt-BR" b="0" dirty="0" err="1"/>
              <a:t>argo</a:t>
            </a:r>
            <a:r>
              <a:rPr lang="pt-BR" b="0" dirty="0"/>
              <a:t> </a:t>
            </a:r>
            <a:r>
              <a:rPr lang="pt-BR" b="0" dirty="0" err="1"/>
              <a:t>or</a:t>
            </a:r>
            <a:r>
              <a:rPr lang="pt-BR" b="0" dirty="0"/>
              <a:t> flux </a:t>
            </a:r>
            <a:r>
              <a:rPr lang="pt-BR" b="0" dirty="0" err="1"/>
              <a:t>cd</a:t>
            </a:r>
            <a:r>
              <a:rPr lang="pt-BR" b="0" dirty="0"/>
              <a:t>  </a:t>
            </a:r>
            <a:r>
              <a:rPr lang="pt-BR" b="0" dirty="0" err="1"/>
              <a:t>watching</a:t>
            </a:r>
            <a:r>
              <a:rPr lang="pt-BR" b="0" dirty="0"/>
              <a:t> </a:t>
            </a:r>
            <a:r>
              <a:rPr lang="pt-BR" b="0" dirty="0" err="1"/>
              <a:t>this</a:t>
            </a:r>
            <a:r>
              <a:rPr lang="pt-BR" b="0" dirty="0"/>
              <a:t> files </a:t>
            </a:r>
            <a:r>
              <a:rPr lang="pt-BR" b="0" dirty="0" err="1"/>
              <a:t>and</a:t>
            </a:r>
            <a:r>
              <a:rPr lang="pt-BR" b="0" dirty="0"/>
              <a:t> Sync </a:t>
            </a:r>
            <a:r>
              <a:rPr lang="pt-BR" b="0" dirty="0" err="1"/>
              <a:t>with</a:t>
            </a:r>
            <a:r>
              <a:rPr lang="pt-BR" b="0" dirty="0"/>
              <a:t> </a:t>
            </a:r>
            <a:r>
              <a:rPr lang="pt-BR" b="0" dirty="0" err="1"/>
              <a:t>yout</a:t>
            </a:r>
            <a:r>
              <a:rPr lang="pt-BR" b="0" dirty="0"/>
              <a:t> </a:t>
            </a:r>
            <a:r>
              <a:rPr lang="pt-BR" b="0" dirty="0" err="1"/>
              <a:t>environment</a:t>
            </a:r>
            <a:r>
              <a:rPr lang="pt-BR" b="0" dirty="0"/>
              <a:t>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AA81B2A-AD43-5B25-D657-D5BD623C27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43C8C9-70B0-4949-BF2F-5B48EED42C45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377033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94EA6-D6C2-FDD7-266B-066776A2F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6C0B783-9500-5074-9792-681A145DCF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18CAC40-DBBD-A149-3EEF-1780D397A0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3:00m  PROS: </a:t>
            </a:r>
          </a:p>
          <a:p>
            <a:r>
              <a:rPr lang="pt-BR" dirty="0"/>
              <a:t>Real </a:t>
            </a:r>
            <a:r>
              <a:rPr lang="pt-BR" dirty="0" err="1"/>
              <a:t>programming</a:t>
            </a:r>
            <a:r>
              <a:rPr lang="pt-BR" dirty="0"/>
              <a:t> </a:t>
            </a:r>
            <a:r>
              <a:rPr lang="pt-BR" dirty="0" err="1"/>
              <a:t>languages</a:t>
            </a:r>
            <a:r>
              <a:rPr lang="pt-BR" dirty="0"/>
              <a:t>: </a:t>
            </a:r>
          </a:p>
          <a:p>
            <a:r>
              <a:rPr lang="pt-BR" dirty="0"/>
              <a:t>	</a:t>
            </a:r>
            <a:r>
              <a:rPr lang="pt-BR" dirty="0" err="1"/>
              <a:t>With</a:t>
            </a:r>
            <a:r>
              <a:rPr lang="pt-BR" dirty="0"/>
              <a:t> CDK8s, </a:t>
            </a:r>
            <a:r>
              <a:rPr lang="pt-BR" dirty="0" err="1"/>
              <a:t>you</a:t>
            </a:r>
            <a:r>
              <a:rPr lang="pt-BR" dirty="0"/>
              <a:t> </a:t>
            </a:r>
            <a:r>
              <a:rPr lang="pt-BR" dirty="0" err="1"/>
              <a:t>describe</a:t>
            </a:r>
            <a:r>
              <a:rPr lang="pt-BR" dirty="0"/>
              <a:t> </a:t>
            </a:r>
            <a:r>
              <a:rPr lang="pt-BR" dirty="0" err="1"/>
              <a:t>Kubernetes</a:t>
            </a:r>
            <a:r>
              <a:rPr lang="pt-BR" dirty="0"/>
              <a:t> </a:t>
            </a:r>
            <a:r>
              <a:rPr lang="pt-BR" dirty="0" err="1"/>
              <a:t>deployments</a:t>
            </a:r>
            <a:r>
              <a:rPr lang="pt-BR" dirty="0"/>
              <a:t> </a:t>
            </a:r>
            <a:r>
              <a:rPr lang="pt-BR" dirty="0" err="1"/>
              <a:t>using</a:t>
            </a:r>
            <a:r>
              <a:rPr lang="pt-BR" dirty="0"/>
              <a:t> </a:t>
            </a:r>
            <a:r>
              <a:rPr lang="pt-BR" dirty="0" err="1"/>
              <a:t>languages</a:t>
            </a:r>
            <a:r>
              <a:rPr lang="pt-BR" dirty="0"/>
              <a:t> like Python, </a:t>
            </a:r>
            <a:r>
              <a:rPr lang="pt-BR" dirty="0" err="1"/>
              <a:t>JavaScript</a:t>
            </a:r>
            <a:r>
              <a:rPr lang="pt-BR" dirty="0"/>
              <a:t>, </a:t>
            </a:r>
            <a:r>
              <a:rPr lang="pt-BR" dirty="0" err="1"/>
              <a:t>TypeScript</a:t>
            </a:r>
            <a:r>
              <a:rPr lang="pt-BR" dirty="0"/>
              <a:t>, Java, </a:t>
            </a:r>
            <a:r>
              <a:rPr lang="pt-BR" dirty="0" err="1"/>
              <a:t>or</a:t>
            </a:r>
            <a:r>
              <a:rPr lang="pt-BR" dirty="0"/>
              <a:t> Go, </a:t>
            </a:r>
            <a:r>
              <a:rPr lang="pt-BR" dirty="0" err="1"/>
              <a:t>eliminating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need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learn</a:t>
            </a:r>
            <a:r>
              <a:rPr lang="pt-BR" dirty="0"/>
              <a:t> YAML </a:t>
            </a:r>
            <a:r>
              <a:rPr lang="pt-BR" dirty="0" err="1"/>
              <a:t>or</a:t>
            </a:r>
            <a:r>
              <a:rPr lang="pt-BR" dirty="0"/>
              <a:t> </a:t>
            </a:r>
            <a:r>
              <a:rPr lang="pt-BR" dirty="0" err="1"/>
              <a:t>specific</a:t>
            </a:r>
            <a:r>
              <a:rPr lang="pt-BR" dirty="0"/>
              <a:t> </a:t>
            </a:r>
            <a:r>
              <a:rPr lang="pt-BR" dirty="0" err="1"/>
              <a:t>DSLs</a:t>
            </a:r>
            <a:r>
              <a:rPr lang="pt-BR" dirty="0"/>
              <a:t>.</a:t>
            </a:r>
          </a:p>
          <a:p>
            <a:endParaRPr lang="pt-BR" b="1" dirty="0"/>
          </a:p>
          <a:p>
            <a:r>
              <a:rPr lang="pt-BR" dirty="0" err="1"/>
              <a:t>Reusability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abstraction</a:t>
            </a:r>
            <a:endParaRPr lang="pt-BR" dirty="0"/>
          </a:p>
          <a:p>
            <a:r>
              <a:rPr lang="pt-BR" dirty="0"/>
              <a:t>	</a:t>
            </a:r>
            <a:r>
              <a:rPr lang="pt-BR" dirty="0" err="1"/>
              <a:t>If</a:t>
            </a:r>
            <a:r>
              <a:rPr lang="pt-BR" dirty="0"/>
              <a:t> </a:t>
            </a:r>
            <a:r>
              <a:rPr lang="pt-BR" dirty="0" err="1"/>
              <a:t>you</a:t>
            </a:r>
            <a:r>
              <a:rPr lang="pt-BR" dirty="0"/>
              <a:t> </a:t>
            </a:r>
            <a:r>
              <a:rPr lang="pt-BR" dirty="0" err="1"/>
              <a:t>want</a:t>
            </a:r>
            <a:r>
              <a:rPr lang="pt-BR" dirty="0"/>
              <a:t> full </a:t>
            </a:r>
            <a:r>
              <a:rPr lang="pt-BR" dirty="0" err="1"/>
              <a:t>control</a:t>
            </a:r>
            <a:r>
              <a:rPr lang="pt-BR" dirty="0"/>
              <a:t> over </a:t>
            </a:r>
            <a:r>
              <a:rPr lang="pt-BR" dirty="0" err="1"/>
              <a:t>creating</a:t>
            </a:r>
            <a:r>
              <a:rPr lang="pt-BR" dirty="0"/>
              <a:t> YAML </a:t>
            </a:r>
            <a:r>
              <a:rPr lang="pt-BR" dirty="0" err="1"/>
              <a:t>objects</a:t>
            </a:r>
            <a:r>
              <a:rPr lang="pt-BR" dirty="0"/>
              <a:t>, </a:t>
            </a:r>
            <a:r>
              <a:rPr lang="pt-BR" dirty="0" err="1"/>
              <a:t>adding</a:t>
            </a:r>
            <a:r>
              <a:rPr lang="pt-BR" dirty="0"/>
              <a:t> </a:t>
            </a:r>
            <a:r>
              <a:rPr lang="pt-BR" dirty="0" err="1"/>
              <a:t>logic</a:t>
            </a:r>
            <a:r>
              <a:rPr lang="pt-BR" dirty="0"/>
              <a:t>, </a:t>
            </a:r>
            <a:r>
              <a:rPr lang="pt-BR" dirty="0" err="1"/>
              <a:t>implementing</a:t>
            </a:r>
            <a:r>
              <a:rPr lang="pt-BR" dirty="0"/>
              <a:t> clean </a:t>
            </a:r>
            <a:r>
              <a:rPr lang="pt-BR" dirty="0" err="1"/>
              <a:t>reusability</a:t>
            </a:r>
            <a:r>
              <a:rPr lang="pt-BR" dirty="0"/>
              <a:t>,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building</a:t>
            </a:r>
            <a:r>
              <a:rPr lang="pt-BR" dirty="0"/>
              <a:t> more </a:t>
            </a:r>
            <a:r>
              <a:rPr lang="pt-BR" dirty="0" err="1"/>
              <a:t>complex</a:t>
            </a:r>
            <a:r>
              <a:rPr lang="pt-BR" dirty="0"/>
              <a:t> procedures, CDK8s </a:t>
            </a:r>
            <a:r>
              <a:rPr lang="pt-BR" dirty="0" err="1"/>
              <a:t>provides</a:t>
            </a:r>
            <a:r>
              <a:rPr lang="pt-BR" dirty="0"/>
              <a:t> </a:t>
            </a:r>
            <a:r>
              <a:rPr lang="pt-BR" dirty="0" err="1"/>
              <a:t>exactly</a:t>
            </a:r>
            <a:r>
              <a:rPr lang="pt-BR" dirty="0"/>
              <a:t> </a:t>
            </a:r>
            <a:r>
              <a:rPr lang="pt-BR" dirty="0" err="1"/>
              <a:t>that</a:t>
            </a:r>
            <a:r>
              <a:rPr lang="pt-BR" dirty="0"/>
              <a:t>.</a:t>
            </a:r>
          </a:p>
          <a:p>
            <a:endParaRPr lang="pt-BR" b="1" dirty="0"/>
          </a:p>
          <a:p>
            <a:r>
              <a:rPr lang="pt-BR" dirty="0"/>
              <a:t>Compile-time </a:t>
            </a:r>
            <a:r>
              <a:rPr lang="pt-BR" dirty="0" err="1"/>
              <a:t>validation</a:t>
            </a:r>
            <a:r>
              <a:rPr lang="pt-BR" dirty="0"/>
              <a:t> </a:t>
            </a:r>
          </a:p>
          <a:p>
            <a:r>
              <a:rPr lang="pt-BR" dirty="0"/>
              <a:t>	Fields </a:t>
            </a:r>
            <a:r>
              <a:rPr lang="pt-BR" dirty="0" err="1"/>
              <a:t>that</a:t>
            </a:r>
            <a:r>
              <a:rPr lang="pt-BR" dirty="0"/>
              <a:t> do </a:t>
            </a:r>
            <a:r>
              <a:rPr lang="pt-BR" dirty="0" err="1"/>
              <a:t>not</a:t>
            </a:r>
            <a:r>
              <a:rPr lang="pt-BR" dirty="0"/>
              <a:t> </a:t>
            </a:r>
            <a:r>
              <a:rPr lang="pt-BR" dirty="0" err="1"/>
              <a:t>exist</a:t>
            </a:r>
            <a:r>
              <a:rPr lang="pt-BR" dirty="0"/>
              <a:t> in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resource</a:t>
            </a:r>
            <a:r>
              <a:rPr lang="pt-BR" dirty="0"/>
              <a:t> </a:t>
            </a:r>
            <a:r>
              <a:rPr lang="pt-BR" dirty="0" err="1"/>
              <a:t>simply</a:t>
            </a:r>
            <a:r>
              <a:rPr lang="pt-BR" dirty="0"/>
              <a:t> </a:t>
            </a:r>
            <a:r>
              <a:rPr lang="pt-BR" dirty="0" err="1"/>
              <a:t>fail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compile, </a:t>
            </a:r>
            <a:r>
              <a:rPr lang="pt-BR" dirty="0" err="1"/>
              <a:t>catching</a:t>
            </a:r>
            <a:r>
              <a:rPr lang="pt-BR" dirty="0"/>
              <a:t> </a:t>
            </a:r>
            <a:r>
              <a:rPr lang="pt-BR" dirty="0" err="1"/>
              <a:t>errors</a:t>
            </a:r>
            <a:r>
              <a:rPr lang="pt-BR" dirty="0"/>
              <a:t> </a:t>
            </a:r>
            <a:r>
              <a:rPr lang="pt-BR" dirty="0" err="1"/>
              <a:t>before</a:t>
            </a:r>
            <a:r>
              <a:rPr lang="pt-BR" dirty="0"/>
              <a:t> </a:t>
            </a:r>
            <a:r>
              <a:rPr lang="pt-BR" dirty="0" err="1"/>
              <a:t>deployment</a:t>
            </a:r>
            <a:r>
              <a:rPr lang="pt-BR" dirty="0"/>
              <a:t> — </a:t>
            </a:r>
            <a:r>
              <a:rPr lang="pt-BR" dirty="0" err="1"/>
              <a:t>something</a:t>
            </a:r>
            <a:r>
              <a:rPr lang="pt-BR" dirty="0"/>
              <a:t> </a:t>
            </a:r>
            <a:r>
              <a:rPr lang="pt-BR" dirty="0" err="1"/>
              <a:t>impossible</a:t>
            </a:r>
            <a:r>
              <a:rPr lang="pt-BR" dirty="0"/>
              <a:t> </a:t>
            </a:r>
            <a:r>
              <a:rPr lang="pt-BR" dirty="0" err="1"/>
              <a:t>with</a:t>
            </a:r>
            <a:r>
              <a:rPr lang="pt-BR" dirty="0"/>
              <a:t> </a:t>
            </a:r>
            <a:r>
              <a:rPr lang="pt-BR" dirty="0" err="1"/>
              <a:t>pure</a:t>
            </a:r>
            <a:r>
              <a:rPr lang="pt-BR" dirty="0"/>
              <a:t> YAML.</a:t>
            </a:r>
          </a:p>
          <a:p>
            <a:endParaRPr lang="pt-BR" b="1" dirty="0"/>
          </a:p>
          <a:p>
            <a:r>
              <a:rPr lang="pt-BR" dirty="0" err="1"/>
              <a:t>Easier</a:t>
            </a:r>
            <a:r>
              <a:rPr lang="pt-BR" dirty="0"/>
              <a:t> cluster upgrades</a:t>
            </a:r>
            <a:br>
              <a:rPr lang="pt-BR" dirty="0"/>
            </a:br>
            <a:r>
              <a:rPr lang="pt-BR" dirty="0"/>
              <a:t>	</a:t>
            </a:r>
            <a:r>
              <a:rPr lang="pt-BR" dirty="0" err="1"/>
              <a:t>It’s</a:t>
            </a:r>
            <a:r>
              <a:rPr lang="pt-BR" dirty="0"/>
              <a:t> no </a:t>
            </a:r>
            <a:r>
              <a:rPr lang="pt-BR" dirty="0" err="1"/>
              <a:t>longer</a:t>
            </a:r>
            <a:r>
              <a:rPr lang="pt-BR" dirty="0"/>
              <a:t> </a:t>
            </a:r>
            <a:r>
              <a:rPr lang="pt-BR" dirty="0" err="1"/>
              <a:t>just</a:t>
            </a:r>
            <a:r>
              <a:rPr lang="pt-BR" dirty="0"/>
              <a:t> a </a:t>
            </a:r>
            <a:r>
              <a:rPr lang="pt-BR" dirty="0" err="1"/>
              <a:t>declarative</a:t>
            </a:r>
            <a:r>
              <a:rPr lang="pt-BR" dirty="0"/>
              <a:t> </a:t>
            </a:r>
            <a:r>
              <a:rPr lang="pt-BR" dirty="0" err="1"/>
              <a:t>configuration</a:t>
            </a:r>
            <a:r>
              <a:rPr lang="pt-BR" dirty="0"/>
              <a:t> </a:t>
            </a:r>
            <a:r>
              <a:rPr lang="pt-BR" dirty="0" err="1"/>
              <a:t>manifest</a:t>
            </a:r>
            <a:r>
              <a:rPr lang="pt-BR" dirty="0"/>
              <a:t>, </a:t>
            </a:r>
            <a:r>
              <a:rPr lang="pt-BR" dirty="0" err="1"/>
              <a:t>but</a:t>
            </a:r>
            <a:r>
              <a:rPr lang="pt-BR" dirty="0"/>
              <a:t> real </a:t>
            </a:r>
            <a:r>
              <a:rPr lang="pt-BR" dirty="0" err="1"/>
              <a:t>code</a:t>
            </a:r>
            <a:r>
              <a:rPr lang="pt-BR" dirty="0"/>
              <a:t> </a:t>
            </a:r>
            <a:r>
              <a:rPr lang="pt-BR" dirty="0" err="1"/>
              <a:t>that</a:t>
            </a:r>
            <a:r>
              <a:rPr lang="pt-BR" dirty="0"/>
              <a:t> must compile.</a:t>
            </a:r>
          </a:p>
          <a:p>
            <a:endParaRPr lang="pt-BR" b="1" dirty="0"/>
          </a:p>
          <a:p>
            <a:r>
              <a:rPr lang="pt-BR" b="0" dirty="0"/>
              <a:t>CONS</a:t>
            </a:r>
          </a:p>
          <a:p>
            <a:r>
              <a:rPr lang="pt-BR" dirty="0"/>
              <a:t>No </a:t>
            </a:r>
            <a:r>
              <a:rPr lang="pt-BR" dirty="0" err="1"/>
              <a:t>native</a:t>
            </a:r>
            <a:r>
              <a:rPr lang="pt-BR" dirty="0"/>
              <a:t> </a:t>
            </a:r>
            <a:r>
              <a:rPr lang="pt-BR" dirty="0" err="1"/>
              <a:t>deployment</a:t>
            </a:r>
            <a:r>
              <a:rPr lang="pt-BR" dirty="0"/>
              <a:t> </a:t>
            </a:r>
            <a:r>
              <a:rPr lang="pt-BR" dirty="0" err="1"/>
              <a:t>mechanism</a:t>
            </a:r>
            <a:endParaRPr lang="pt-BR" dirty="0"/>
          </a:p>
          <a:p>
            <a:r>
              <a:rPr lang="pt-BR" dirty="0"/>
              <a:t>	</a:t>
            </a:r>
            <a:r>
              <a:rPr lang="pt-BR" dirty="0" err="1"/>
              <a:t>Unlike</a:t>
            </a:r>
            <a:r>
              <a:rPr lang="pt-BR" dirty="0"/>
              <a:t> AWS CDK, </a:t>
            </a:r>
            <a:r>
              <a:rPr lang="pt-BR" dirty="0" err="1"/>
              <a:t>which</a:t>
            </a:r>
            <a:r>
              <a:rPr lang="pt-BR" dirty="0"/>
              <a:t> </a:t>
            </a:r>
            <a:r>
              <a:rPr lang="pt-BR" dirty="0" err="1"/>
              <a:t>integrates</a:t>
            </a:r>
            <a:r>
              <a:rPr lang="pt-BR" dirty="0"/>
              <a:t> </a:t>
            </a:r>
            <a:r>
              <a:rPr lang="pt-BR" dirty="0" err="1"/>
              <a:t>with</a:t>
            </a:r>
            <a:r>
              <a:rPr lang="pt-BR" dirty="0"/>
              <a:t> </a:t>
            </a:r>
            <a:r>
              <a:rPr lang="pt-BR" dirty="0" err="1"/>
              <a:t>CloudFormation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manage</a:t>
            </a:r>
            <a:r>
              <a:rPr lang="pt-BR" dirty="0"/>
              <a:t> </a:t>
            </a:r>
            <a:r>
              <a:rPr lang="pt-BR" dirty="0" err="1"/>
              <a:t>stack</a:t>
            </a:r>
            <a:r>
              <a:rPr lang="pt-BR" dirty="0"/>
              <a:t> </a:t>
            </a:r>
            <a:r>
              <a:rPr lang="pt-BR" dirty="0" err="1"/>
              <a:t>deployments</a:t>
            </a:r>
            <a:r>
              <a:rPr lang="pt-BR" dirty="0"/>
              <a:t>, CDK8s does </a:t>
            </a:r>
            <a:r>
              <a:rPr lang="pt-BR" dirty="0" err="1"/>
              <a:t>not</a:t>
            </a:r>
            <a:r>
              <a:rPr lang="pt-BR" dirty="0"/>
              <a:t> </a:t>
            </a:r>
            <a:r>
              <a:rPr lang="pt-BR" dirty="0" err="1"/>
              <a:t>have</a:t>
            </a:r>
            <a:r>
              <a:rPr lang="pt-BR" dirty="0"/>
              <a:t> a </a:t>
            </a:r>
            <a:r>
              <a:rPr lang="pt-BR" dirty="0" err="1"/>
              <a:t>native</a:t>
            </a:r>
            <a:r>
              <a:rPr lang="pt-BR" dirty="0"/>
              <a:t> </a:t>
            </a:r>
            <a:r>
              <a:rPr lang="pt-BR" dirty="0" err="1"/>
              <a:t>deployment</a:t>
            </a:r>
            <a:r>
              <a:rPr lang="pt-BR" dirty="0"/>
              <a:t> </a:t>
            </a:r>
            <a:r>
              <a:rPr lang="pt-BR" dirty="0" err="1"/>
              <a:t>mechanism</a:t>
            </a:r>
            <a:r>
              <a:rPr lang="pt-BR" dirty="0"/>
              <a:t>. </a:t>
            </a:r>
            <a:r>
              <a:rPr lang="pt-BR" dirty="0" err="1"/>
              <a:t>You</a:t>
            </a:r>
            <a:r>
              <a:rPr lang="pt-BR" dirty="0"/>
              <a:t> still </a:t>
            </a:r>
            <a:r>
              <a:rPr lang="pt-BR" dirty="0" err="1"/>
              <a:t>need</a:t>
            </a:r>
            <a:r>
              <a:rPr lang="pt-BR" dirty="0"/>
              <a:t> </a:t>
            </a:r>
            <a:r>
              <a:rPr lang="pt-BR" dirty="0" err="1"/>
              <a:t>kubectl</a:t>
            </a:r>
            <a:r>
              <a:rPr lang="pt-BR" dirty="0"/>
              <a:t>, </a:t>
            </a:r>
            <a:r>
              <a:rPr lang="pt-BR" dirty="0" err="1"/>
              <a:t>ArgoCD</a:t>
            </a:r>
            <a:r>
              <a:rPr lang="pt-BR" dirty="0"/>
              <a:t>, </a:t>
            </a:r>
            <a:r>
              <a:rPr lang="pt-BR" dirty="0" err="1"/>
              <a:t>or</a:t>
            </a:r>
            <a:r>
              <a:rPr lang="pt-BR" dirty="0"/>
              <a:t> a similar tool.</a:t>
            </a:r>
          </a:p>
          <a:p>
            <a:endParaRPr lang="pt-BR" dirty="0"/>
          </a:p>
          <a:p>
            <a:r>
              <a:rPr lang="pt-BR" dirty="0"/>
              <a:t>No </a:t>
            </a:r>
            <a:r>
              <a:rPr lang="pt-BR" dirty="0" err="1"/>
              <a:t>native</a:t>
            </a:r>
            <a:r>
              <a:rPr lang="pt-BR" dirty="0"/>
              <a:t> </a:t>
            </a:r>
            <a:r>
              <a:rPr lang="pt-BR" dirty="0" err="1"/>
              <a:t>stage</a:t>
            </a:r>
            <a:r>
              <a:rPr lang="pt-BR" dirty="0"/>
              <a:t> management</a:t>
            </a:r>
          </a:p>
          <a:p>
            <a:r>
              <a:rPr lang="pt-BR" b="1" dirty="0"/>
              <a:t>	</a:t>
            </a:r>
            <a:r>
              <a:rPr lang="pt-BR" dirty="0" err="1"/>
              <a:t>Unlike</a:t>
            </a:r>
            <a:r>
              <a:rPr lang="pt-BR" dirty="0"/>
              <a:t> </a:t>
            </a:r>
            <a:r>
              <a:rPr lang="pt-BR" dirty="0" err="1"/>
              <a:t>Terraform</a:t>
            </a:r>
            <a:r>
              <a:rPr lang="pt-BR" dirty="0"/>
              <a:t> (</a:t>
            </a:r>
            <a:r>
              <a:rPr lang="pt-BR" dirty="0" err="1"/>
              <a:t>which</a:t>
            </a:r>
            <a:r>
              <a:rPr lang="pt-BR" dirty="0"/>
              <a:t> </a:t>
            </a:r>
            <a:r>
              <a:rPr lang="pt-BR" dirty="0" err="1"/>
              <a:t>has</a:t>
            </a:r>
            <a:r>
              <a:rPr lang="pt-BR" dirty="0"/>
              <a:t> a </a:t>
            </a:r>
            <a:r>
              <a:rPr lang="pt-BR" dirty="0" err="1"/>
              <a:t>state</a:t>
            </a:r>
            <a:r>
              <a:rPr lang="pt-BR" dirty="0"/>
              <a:t> file) </a:t>
            </a:r>
            <a:r>
              <a:rPr lang="pt-BR" dirty="0" err="1"/>
              <a:t>or</a:t>
            </a:r>
            <a:r>
              <a:rPr lang="pt-BR" dirty="0"/>
              <a:t> AWS CDK </a:t>
            </a:r>
            <a:r>
              <a:rPr lang="pt-BR" dirty="0" err="1"/>
              <a:t>itself</a:t>
            </a:r>
            <a:r>
              <a:rPr lang="pt-BR" dirty="0"/>
              <a:t> (</a:t>
            </a:r>
            <a:r>
              <a:rPr lang="pt-BR" dirty="0" err="1"/>
              <a:t>which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integrated</a:t>
            </a:r>
            <a:r>
              <a:rPr lang="pt-BR" dirty="0"/>
              <a:t> </a:t>
            </a:r>
            <a:r>
              <a:rPr lang="pt-BR" dirty="0" err="1"/>
              <a:t>with</a:t>
            </a:r>
            <a:r>
              <a:rPr lang="pt-BR" dirty="0"/>
              <a:t> </a:t>
            </a:r>
            <a:r>
              <a:rPr lang="pt-BR" dirty="0" err="1"/>
              <a:t>CloudFormation</a:t>
            </a:r>
            <a:r>
              <a:rPr lang="pt-BR" dirty="0"/>
              <a:t>), CDK8s </a:t>
            </a:r>
            <a:r>
              <a:rPr lang="pt-BR" dirty="0" err="1"/>
              <a:t>doesn’t</a:t>
            </a:r>
            <a:r>
              <a:rPr lang="pt-BR" dirty="0"/>
              <a:t> track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state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resources</a:t>
            </a:r>
            <a:r>
              <a:rPr lang="pt-BR" dirty="0"/>
              <a:t> </a:t>
            </a:r>
            <a:r>
              <a:rPr lang="pt-BR" dirty="0" err="1"/>
              <a:t>that</a:t>
            </a:r>
            <a:r>
              <a:rPr lang="pt-BR" dirty="0"/>
              <a:t> </a:t>
            </a:r>
            <a:r>
              <a:rPr lang="pt-BR" dirty="0" err="1"/>
              <a:t>have</a:t>
            </a:r>
            <a:r>
              <a:rPr lang="pt-BR" dirty="0"/>
              <a:t> </a:t>
            </a:r>
            <a:r>
              <a:rPr lang="pt-BR" dirty="0" err="1"/>
              <a:t>already</a:t>
            </a:r>
            <a:r>
              <a:rPr lang="pt-BR" dirty="0"/>
              <a:t> </a:t>
            </a:r>
            <a:r>
              <a:rPr lang="pt-BR" dirty="0" err="1"/>
              <a:t>been</a:t>
            </a:r>
            <a:r>
              <a:rPr lang="pt-BR" dirty="0"/>
              <a:t> </a:t>
            </a:r>
            <a:r>
              <a:rPr lang="pt-BR" dirty="0" err="1"/>
              <a:t>applied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cluster. It </a:t>
            </a:r>
            <a:r>
              <a:rPr lang="pt-BR" dirty="0" err="1"/>
              <a:t>only</a:t>
            </a:r>
            <a:r>
              <a:rPr lang="pt-BR" dirty="0"/>
              <a:t> </a:t>
            </a:r>
            <a:r>
              <a:rPr lang="pt-BR" dirty="0" err="1"/>
              <a:t>generates</a:t>
            </a:r>
            <a:r>
              <a:rPr lang="pt-BR" dirty="0"/>
              <a:t> YAML.</a:t>
            </a:r>
          </a:p>
          <a:p>
            <a:endParaRPr lang="pt-BR" b="1" dirty="0"/>
          </a:p>
          <a:p>
            <a:r>
              <a:rPr lang="pt-BR" b="1" dirty="0"/>
              <a:t>Lower </a:t>
            </a:r>
            <a:r>
              <a:rPr lang="pt-BR" b="1" dirty="0" err="1"/>
              <a:t>adoption</a:t>
            </a:r>
            <a:r>
              <a:rPr lang="pt-BR" b="1" dirty="0"/>
              <a:t> </a:t>
            </a:r>
            <a:r>
              <a:rPr lang="pt-BR" b="1" dirty="0" err="1"/>
              <a:t>than</a:t>
            </a:r>
            <a:r>
              <a:rPr lang="pt-BR" b="1" dirty="0"/>
              <a:t> Helm/</a:t>
            </a:r>
            <a:r>
              <a:rPr lang="pt-BR" b="1" dirty="0" err="1"/>
              <a:t>Kustomize</a:t>
            </a:r>
            <a:br>
              <a:rPr lang="pt-BR" dirty="0"/>
            </a:br>
            <a:r>
              <a:rPr lang="pt-BR" dirty="0"/>
              <a:t>	Community </a:t>
            </a:r>
            <a:r>
              <a:rPr lang="pt-BR" dirty="0" err="1"/>
              <a:t>support</a:t>
            </a:r>
            <a:r>
              <a:rPr lang="pt-BR" dirty="0"/>
              <a:t> </a:t>
            </a:r>
            <a:r>
              <a:rPr lang="pt-BR" dirty="0" err="1"/>
              <a:t>may</a:t>
            </a:r>
            <a:r>
              <a:rPr lang="pt-BR" dirty="0"/>
              <a:t> </a:t>
            </a:r>
            <a:r>
              <a:rPr lang="pt-BR" dirty="0" err="1"/>
              <a:t>not</a:t>
            </a:r>
            <a:r>
              <a:rPr lang="pt-BR" dirty="0"/>
              <a:t> </a:t>
            </a:r>
            <a:r>
              <a:rPr lang="pt-BR" dirty="0" err="1"/>
              <a:t>be</a:t>
            </a:r>
            <a:r>
              <a:rPr lang="pt-BR" dirty="0"/>
              <a:t> as </a:t>
            </a:r>
            <a:r>
              <a:rPr lang="pt-BR" dirty="0" err="1"/>
              <a:t>strong</a:t>
            </a:r>
            <a:r>
              <a:rPr lang="pt-BR" dirty="0"/>
              <a:t> as </a:t>
            </a:r>
            <a:r>
              <a:rPr lang="pt-BR" dirty="0" err="1"/>
              <a:t>with</a:t>
            </a:r>
            <a:r>
              <a:rPr lang="pt-BR" dirty="0"/>
              <a:t> Helm </a:t>
            </a:r>
            <a:r>
              <a:rPr lang="pt-BR" dirty="0" err="1"/>
              <a:t>or</a:t>
            </a:r>
            <a:r>
              <a:rPr lang="pt-BR" dirty="0"/>
              <a:t> </a:t>
            </a:r>
            <a:r>
              <a:rPr lang="pt-BR" dirty="0" err="1"/>
              <a:t>Kustomize</a:t>
            </a:r>
            <a:r>
              <a:rPr lang="pt-BR" dirty="0"/>
              <a:t>. A </a:t>
            </a:r>
            <a:r>
              <a:rPr lang="pt-BR" dirty="0" err="1"/>
              <a:t>smaller</a:t>
            </a:r>
            <a:r>
              <a:rPr lang="pt-BR" dirty="0"/>
              <a:t> </a:t>
            </a:r>
            <a:r>
              <a:rPr lang="pt-BR" dirty="0" err="1"/>
              <a:t>ecosystem</a:t>
            </a:r>
            <a:r>
              <a:rPr lang="pt-BR" dirty="0"/>
              <a:t> </a:t>
            </a:r>
            <a:r>
              <a:rPr lang="pt-BR" dirty="0" err="1"/>
              <a:t>means</a:t>
            </a:r>
            <a:r>
              <a:rPr lang="pt-BR" dirty="0"/>
              <a:t> </a:t>
            </a:r>
            <a:r>
              <a:rPr lang="pt-BR" dirty="0" err="1"/>
              <a:t>fewer</a:t>
            </a:r>
            <a:r>
              <a:rPr lang="pt-BR" dirty="0"/>
              <a:t> </a:t>
            </a:r>
            <a:r>
              <a:rPr lang="pt-BR" dirty="0" err="1"/>
              <a:t>ready-made</a:t>
            </a:r>
            <a:r>
              <a:rPr lang="pt-BR" dirty="0"/>
              <a:t> </a:t>
            </a:r>
            <a:r>
              <a:rPr lang="pt-BR" dirty="0" err="1"/>
              <a:t>templates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fewer</a:t>
            </a:r>
            <a:r>
              <a:rPr lang="pt-BR" dirty="0"/>
              <a:t> learning </a:t>
            </a:r>
            <a:r>
              <a:rPr lang="pt-BR" dirty="0" err="1"/>
              <a:t>resources</a:t>
            </a:r>
            <a:r>
              <a:rPr lang="pt-BR" dirty="0"/>
              <a:t>.</a:t>
            </a:r>
          </a:p>
          <a:p>
            <a:endParaRPr lang="pt-BR" b="1" dirty="0"/>
          </a:p>
          <a:p>
            <a:r>
              <a:rPr lang="pt-BR" dirty="0"/>
              <a:t>Learning curve for </a:t>
            </a:r>
            <a:r>
              <a:rPr lang="pt-BR" dirty="0" err="1"/>
              <a:t>Ops</a:t>
            </a:r>
            <a:r>
              <a:rPr lang="pt-BR" dirty="0"/>
              <a:t> </a:t>
            </a:r>
            <a:r>
              <a:rPr lang="pt-BR" dirty="0" err="1"/>
              <a:t>teams</a:t>
            </a:r>
            <a:r>
              <a:rPr lang="pt-BR" dirty="0"/>
              <a:t> </a:t>
            </a:r>
          </a:p>
          <a:p>
            <a:r>
              <a:rPr lang="pt-BR" dirty="0"/>
              <a:t>	CDK8s </a:t>
            </a:r>
            <a:r>
              <a:rPr lang="pt-BR" dirty="0" err="1"/>
              <a:t>offers</a:t>
            </a:r>
            <a:r>
              <a:rPr lang="pt-BR" dirty="0"/>
              <a:t> </a:t>
            </a:r>
            <a:r>
              <a:rPr lang="pt-BR" dirty="0" err="1"/>
              <a:t>many</a:t>
            </a:r>
            <a:r>
              <a:rPr lang="pt-BR" dirty="0"/>
              <a:t> </a:t>
            </a:r>
            <a:r>
              <a:rPr lang="pt-BR" dirty="0" err="1"/>
              <a:t>advantages</a:t>
            </a:r>
            <a:r>
              <a:rPr lang="pt-BR" dirty="0"/>
              <a:t> over standard tools, </a:t>
            </a:r>
            <a:r>
              <a:rPr lang="pt-BR" dirty="0" err="1"/>
              <a:t>but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learning curve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slightly</a:t>
            </a:r>
            <a:r>
              <a:rPr lang="pt-BR" dirty="0"/>
              <a:t> </a:t>
            </a:r>
            <a:r>
              <a:rPr lang="pt-BR" dirty="0" err="1"/>
              <a:t>steeper</a:t>
            </a:r>
            <a:r>
              <a:rPr lang="pt-BR" dirty="0"/>
              <a:t> for </a:t>
            </a:r>
            <a:r>
              <a:rPr lang="pt-BR" dirty="0" err="1"/>
              <a:t>beginners</a:t>
            </a:r>
            <a:r>
              <a:rPr lang="pt-BR" dirty="0"/>
              <a:t>. Teams </a:t>
            </a:r>
            <a:r>
              <a:rPr lang="pt-BR" dirty="0" err="1"/>
              <a:t>who</a:t>
            </a:r>
            <a:r>
              <a:rPr lang="pt-BR" dirty="0"/>
              <a:t> </a:t>
            </a:r>
            <a:r>
              <a:rPr lang="pt-BR" dirty="0" err="1"/>
              <a:t>already</a:t>
            </a:r>
            <a:r>
              <a:rPr lang="pt-BR" dirty="0"/>
              <a:t> </a:t>
            </a:r>
            <a:r>
              <a:rPr lang="pt-BR" dirty="0" err="1"/>
              <a:t>know</a:t>
            </a:r>
            <a:r>
              <a:rPr lang="pt-BR" dirty="0"/>
              <a:t>  YAML </a:t>
            </a:r>
            <a:r>
              <a:rPr lang="pt-BR" dirty="0" err="1"/>
              <a:t>need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adapt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object-oriented</a:t>
            </a:r>
            <a:r>
              <a:rPr lang="pt-BR" dirty="0"/>
              <a:t> </a:t>
            </a:r>
            <a:r>
              <a:rPr lang="pt-BR" dirty="0" err="1"/>
              <a:t>programming</a:t>
            </a:r>
            <a:r>
              <a:rPr lang="pt-BR" dirty="0"/>
              <a:t> </a:t>
            </a:r>
            <a:r>
              <a:rPr lang="pt-BR" dirty="0" err="1"/>
              <a:t>paradigms</a:t>
            </a:r>
            <a:r>
              <a:rPr lang="pt-BR" dirty="0"/>
              <a:t> </a:t>
            </a:r>
            <a:r>
              <a:rPr lang="pt-BR" dirty="0" err="1"/>
              <a:t>could</a:t>
            </a:r>
            <a:r>
              <a:rPr lang="pt-BR" dirty="0"/>
              <a:t> </a:t>
            </a:r>
            <a:r>
              <a:rPr lang="pt-BR" dirty="0" err="1"/>
              <a:t>be</a:t>
            </a:r>
            <a:r>
              <a:rPr lang="pt-BR" dirty="0"/>
              <a:t> a </a:t>
            </a:r>
            <a:r>
              <a:rPr lang="pt-BR" dirty="0" err="1"/>
              <a:t>barrier</a:t>
            </a:r>
            <a:r>
              <a:rPr lang="pt-BR" dirty="0"/>
              <a:t>.</a:t>
            </a:r>
          </a:p>
          <a:p>
            <a:endParaRPr lang="pt-BR" b="0" dirty="0"/>
          </a:p>
          <a:p>
            <a:endParaRPr lang="pt-BR" b="0" dirty="0"/>
          </a:p>
          <a:p>
            <a:endParaRPr lang="pt-BR" b="0" dirty="0"/>
          </a:p>
          <a:p>
            <a:r>
              <a:rPr lang="pt-BR" b="0" dirty="0" err="1"/>
              <a:t>Anoter</a:t>
            </a:r>
            <a:r>
              <a:rPr lang="pt-BR" b="0" dirty="0"/>
              <a:t> </a:t>
            </a:r>
            <a:r>
              <a:rPr lang="pt-BR" b="0" dirty="0" err="1"/>
              <a:t>change</a:t>
            </a:r>
            <a:r>
              <a:rPr lang="pt-BR" b="0" dirty="0"/>
              <a:t> </a:t>
            </a:r>
            <a:r>
              <a:rPr lang="pt-BR" b="0" dirty="0" err="1"/>
              <a:t>here</a:t>
            </a:r>
            <a:r>
              <a:rPr lang="pt-BR" b="0" dirty="0"/>
              <a:t> </a:t>
            </a:r>
            <a:r>
              <a:rPr lang="pt-BR" b="0" dirty="0" err="1"/>
              <a:t>is</a:t>
            </a:r>
            <a:r>
              <a:rPr lang="pt-BR" b="0" dirty="0"/>
              <a:t> 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97A9CB3-11C7-D8CE-E955-DE10E01767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43C8C9-70B0-4949-BF2F-5B48EED42C45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25836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9CF79-C79D-7B3A-5BF7-5D1C7ED08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29AD7D3-0BF7-C4A3-5EA9-43EA6923A5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959D95D-E1E3-C7EF-0410-9D8E2C5E49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DEB167D-BBF9-9DB1-D53D-1D2C9CF1E1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43C8C9-70B0-4949-BF2F-5B48EED42C45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1183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B41BF9-FF24-C481-B930-6D182D02D3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06EB473-AEAC-2CF5-DDB7-6B484D55D9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ACF7EA-0FD6-AF30-37D3-50FD2331E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D21B2-CFB4-C747-8C5F-06BD6E9702B4}" type="datetimeFigureOut">
              <a:rPr lang="pt-BR" smtClean="0"/>
              <a:t>14/03/2026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A0E8F6-F628-75DD-ADB7-A219C1BFA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152EFE-5A36-78FC-E631-E65519F6F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90209-89A6-4042-BA66-8AB35047EC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1287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69820E-8188-5D93-3E78-59046210A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26D067-A9F1-5D66-3B8E-9A18B733C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955FD8D-8A2A-0FEC-8923-D3AF332CE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D21B2-CFB4-C747-8C5F-06BD6E9702B4}" type="datetimeFigureOut">
              <a:rPr lang="pt-BR" smtClean="0"/>
              <a:t>14/03/2026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DA0AC6E-9F99-DD55-4FAC-50DAA943F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9EB8A9-8F60-3606-F5FB-DBD4411A3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90209-89A6-4042-BA66-8AB35047EC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2678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8722D9-7706-4F25-A470-30CA117314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899C104-15C8-5CA4-9DC1-C9493AF93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78CFA4-7C4F-F5D4-DBA1-D37938469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D21B2-CFB4-C747-8C5F-06BD6E9702B4}" type="datetimeFigureOut">
              <a:rPr lang="pt-BR" smtClean="0"/>
              <a:t>14/03/2026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1FAD87-F002-9ED0-E158-797F5073D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08CA83-0992-A0DB-C8EC-0C984BB66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90209-89A6-4042-BA66-8AB35047EC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6049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8ED865-0B1A-15B9-6967-4182A42EC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6ABDC8-F983-9927-E6BC-0D4157629F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FB08FB4-29C7-0CC9-2A9C-CF9047A2EF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82081B4-6E60-AE51-1B3D-C3A51C44A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D21B2-CFB4-C747-8C5F-06BD6E9702B4}" type="datetimeFigureOut">
              <a:rPr lang="pt-BR" smtClean="0"/>
              <a:t>14/03/2026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6C13E54-0608-5F9C-74DF-0EFE49CA9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546E0D9-E020-CE28-4D1C-5FE06BDE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90209-89A6-4042-BA66-8AB35047EC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8677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7FD324-0813-F10A-0D1A-7B2E5247F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670961B-2BE2-945D-3797-536AF8C4A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6C29B0D-407D-ED57-6C82-FACF273E7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88AEC07-A40E-8FF0-EA7C-A206E0FD3C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E652EE6-280D-7085-ED7D-4C45E8F127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8C11E38-AC2D-54F8-CA0F-F23F8BBEA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D21B2-CFB4-C747-8C5F-06BD6E9702B4}" type="datetimeFigureOut">
              <a:rPr lang="pt-BR" smtClean="0"/>
              <a:t>14/03/2026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A73BD37-812D-5669-08D6-2CB870C6B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A79FCE6-B23F-3E2A-AA85-008F997D6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90209-89A6-4042-BA66-8AB35047EC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2875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05FD39-D467-1FCC-79F6-D00734D7E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9E729B2-8652-2308-EEC9-C3036839B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D21B2-CFB4-C747-8C5F-06BD6E9702B4}" type="datetimeFigureOut">
              <a:rPr lang="pt-BR" smtClean="0"/>
              <a:t>14/03/2026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CDD96C0-ED2C-5913-E844-6C2E092C9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FF9F157-342C-7C74-3768-3DD6DC3CD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90209-89A6-4042-BA66-8AB35047EC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966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771E4CE-209B-07EC-FB51-89F8AA4F7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D21B2-CFB4-C747-8C5F-06BD6E9702B4}" type="datetimeFigureOut">
              <a:rPr lang="pt-BR" smtClean="0"/>
              <a:t>14/03/2026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2DE1AC4-4C3B-A23B-AF7C-4FF8EFB42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2A78C00-E545-B8B2-2BB1-798F005F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90209-89A6-4042-BA66-8AB35047EC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5149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810E5F-A8E3-B6A6-66CE-15679BABD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C03002-5430-48C4-4025-3BA406460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36279C2-605D-14DF-EA8D-C5F7AE14AC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0FE88A4-1F81-C9C4-D13E-E82C2AD32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D21B2-CFB4-C747-8C5F-06BD6E9702B4}" type="datetimeFigureOut">
              <a:rPr lang="pt-BR" smtClean="0"/>
              <a:t>14/03/2026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8739551-478E-4DC8-35D5-47E90A6BA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13FFC07-350D-E8CF-142D-E5D1DAC49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90209-89A6-4042-BA66-8AB35047EC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1662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315593-7F15-9D35-D626-33015240D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4869089-5CEC-DEC0-F9E3-6DE06704A4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C11E81D-F63E-9F2F-6176-D1952189BE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7C98718-861A-597F-09FE-3B8CBB1A2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D21B2-CFB4-C747-8C5F-06BD6E9702B4}" type="datetimeFigureOut">
              <a:rPr lang="pt-BR" smtClean="0"/>
              <a:t>14/03/2026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24DDAF6-29C5-0FDA-8E51-F06C8C9AA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0DEADFA-1E86-9B74-3DAA-519CF2087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90209-89A6-4042-BA66-8AB35047EC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6316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683737-A5E0-6837-F1AA-3D01F89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722AB13-C539-A9AE-6C51-BBF30F54FB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4F03BB-FEB8-E409-CD59-436A5F08B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D21B2-CFB4-C747-8C5F-06BD6E9702B4}" type="datetimeFigureOut">
              <a:rPr lang="pt-BR" smtClean="0"/>
              <a:t>14/03/2026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B267B0-E4AC-FB3D-C068-01AA371A7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63522E-7E55-F4DB-EDBC-99F6932C8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90209-89A6-4042-BA66-8AB35047EC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0153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76442A2-4935-3B3D-8F28-76BC7A38A4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28E0B9F-A558-377C-5FA0-106734A8CC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19DB4EA-A474-F723-7D91-51DD34D75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D21B2-CFB4-C747-8C5F-06BD6E9702B4}" type="datetimeFigureOut">
              <a:rPr lang="pt-BR" smtClean="0"/>
              <a:t>14/03/2026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1A7527-DDC4-E07D-113F-306BDE549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A8AD77-D7E3-38AC-268F-E77D60E5B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90209-89A6-4042-BA66-8AB35047EC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9098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778E85A-ED41-9CD8-48F8-8D5B6617E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DF03361-5B3B-6FE6-7E91-843CACB766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D20EE7-503A-AC95-DBEA-08A4F8EB49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2D21B2-CFB4-C747-8C5F-06BD6E9702B4}" type="datetimeFigureOut">
              <a:rPr lang="pt-BR" smtClean="0"/>
              <a:t>14/03/2026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B2E28F3-93CE-9E26-55CD-BC25A85C21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0B6C11-E37E-42EA-B01C-C1D3D4A50B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C90209-89A6-4042-BA66-8AB35047EC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4278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hyperlink" Target="https://github.com/aws/constructs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43E40-FBD2-92BC-E1BD-630BE2295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Write Your Kubernetes Infrastructure as Go Code — “cdk8s-plus” in Action! |  by Abhishek Gupta | Better Programming">
            <a:extLst>
              <a:ext uri="{FF2B5EF4-FFF2-40B4-BE49-F238E27FC236}">
                <a16:creationId xmlns:a16="http://schemas.microsoft.com/office/drawing/2014/main" id="{3CE16B1C-059A-4EC1-8C85-E105E76F0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9004" y="1986614"/>
            <a:ext cx="7890614" cy="23671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riângulo Retângulo 2">
            <a:extLst>
              <a:ext uri="{FF2B5EF4-FFF2-40B4-BE49-F238E27FC236}">
                <a16:creationId xmlns:a16="http://schemas.microsoft.com/office/drawing/2014/main" id="{A853D913-0612-F4C3-CE5D-015F880EC620}"/>
              </a:ext>
            </a:extLst>
          </p:cNvPr>
          <p:cNvSpPr/>
          <p:nvPr/>
        </p:nvSpPr>
        <p:spPr>
          <a:xfrm rot="10800000">
            <a:off x="6021236" y="0"/>
            <a:ext cx="6170763" cy="5400136"/>
          </a:xfrm>
          <a:prstGeom prst="rtTriangle">
            <a:avLst/>
          </a:prstGeom>
          <a:solidFill>
            <a:srgbClr val="2152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Triângulo Retângulo 3">
            <a:extLst>
              <a:ext uri="{FF2B5EF4-FFF2-40B4-BE49-F238E27FC236}">
                <a16:creationId xmlns:a16="http://schemas.microsoft.com/office/drawing/2014/main" id="{97D44776-8E18-5990-E65E-7D661A38159D}"/>
              </a:ext>
            </a:extLst>
          </p:cNvPr>
          <p:cNvSpPr/>
          <p:nvPr/>
        </p:nvSpPr>
        <p:spPr>
          <a:xfrm rot="16200000">
            <a:off x="6264216" y="930215"/>
            <a:ext cx="5684808" cy="6170761"/>
          </a:xfrm>
          <a:prstGeom prst="rtTriangle">
            <a:avLst/>
          </a:prstGeom>
          <a:solidFill>
            <a:srgbClr val="2152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A5D617D-2C03-A3D7-D9BE-5AEDB6285FC9}"/>
              </a:ext>
            </a:extLst>
          </p:cNvPr>
          <p:cNvSpPr txBox="1"/>
          <p:nvPr/>
        </p:nvSpPr>
        <p:spPr>
          <a:xfrm>
            <a:off x="9558068" y="7168551"/>
            <a:ext cx="2386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  <a:cs typeface="Segoe UI" panose="020B0502040204020203" pitchFamily="34" charset="0"/>
              </a:rPr>
              <a:t>Luis Neu - L&amp;L 2026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6A03810-380F-9198-4293-F67A41FD7B1E}"/>
              </a:ext>
            </a:extLst>
          </p:cNvPr>
          <p:cNvSpPr txBox="1"/>
          <p:nvPr/>
        </p:nvSpPr>
        <p:spPr>
          <a:xfrm>
            <a:off x="4882547" y="-310551"/>
            <a:ext cx="72289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What</a:t>
            </a:r>
            <a:r>
              <a:rPr lang="pt-BR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1000" b="1" dirty="0" err="1">
                <a:latin typeface="Segoe UI" panose="020B0502040204020203" pitchFamily="34" charset="0"/>
                <a:cs typeface="Segoe UI" panose="020B0502040204020203" pitchFamily="34" charset="0"/>
              </a:rPr>
              <a:t>is</a:t>
            </a:r>
            <a:r>
              <a:rPr lang="pt-BR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1000" b="1" u="sng" dirty="0">
                <a:latin typeface="Segoe UI" panose="020B0502040204020203" pitchFamily="34" charset="0"/>
                <a:cs typeface="Segoe UI" panose="020B0502040204020203" pitchFamily="34" charset="0"/>
              </a:rPr>
              <a:t>CDK8S</a:t>
            </a:r>
            <a:r>
              <a:rPr lang="pt-BR" sz="1000" b="1" dirty="0">
                <a:latin typeface="Segoe UI" panose="020B0502040204020203" pitchFamily="34" charset="0"/>
                <a:cs typeface="Segoe UI" panose="020B0502040204020203" pitchFamily="34" charset="0"/>
              </a:rPr>
              <a:t> ? </a:t>
            </a:r>
          </a:p>
        </p:txBody>
      </p:sp>
    </p:spTree>
    <p:extLst>
      <p:ext uri="{BB962C8B-B14F-4D97-AF65-F5344CB8AC3E}">
        <p14:creationId xmlns:p14="http://schemas.microsoft.com/office/powerpoint/2010/main" val="26469212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D44E2-C409-9D25-BC7B-617773E1E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Write Your Kubernetes Infrastructure as Go Code — “cdk8s-plus” in Action! |  by Abhishek Gupta | Better Programming">
            <a:extLst>
              <a:ext uri="{FF2B5EF4-FFF2-40B4-BE49-F238E27FC236}">
                <a16:creationId xmlns:a16="http://schemas.microsoft.com/office/drawing/2014/main" id="{4C2156DC-4337-01C1-8A17-7D96EED42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57525" y="701279"/>
            <a:ext cx="2435689" cy="730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riângulo Retângulo 2">
            <a:extLst>
              <a:ext uri="{FF2B5EF4-FFF2-40B4-BE49-F238E27FC236}">
                <a16:creationId xmlns:a16="http://schemas.microsoft.com/office/drawing/2014/main" id="{C65A7BAF-0665-FEE5-6031-640C32492690}"/>
              </a:ext>
            </a:extLst>
          </p:cNvPr>
          <p:cNvSpPr/>
          <p:nvPr/>
        </p:nvSpPr>
        <p:spPr>
          <a:xfrm rot="16200000">
            <a:off x="8536330" y="3202328"/>
            <a:ext cx="3899140" cy="3412201"/>
          </a:xfrm>
          <a:prstGeom prst="rtTriangle">
            <a:avLst/>
          </a:prstGeom>
          <a:solidFill>
            <a:srgbClr val="2152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Triângulo Retângulo 3">
            <a:extLst>
              <a:ext uri="{FF2B5EF4-FFF2-40B4-BE49-F238E27FC236}">
                <a16:creationId xmlns:a16="http://schemas.microsoft.com/office/drawing/2014/main" id="{0E3E9552-743A-CC68-4ADB-581A1A5F3EA6}"/>
              </a:ext>
            </a:extLst>
          </p:cNvPr>
          <p:cNvSpPr/>
          <p:nvPr/>
        </p:nvSpPr>
        <p:spPr>
          <a:xfrm rot="5400000">
            <a:off x="82958" y="-82957"/>
            <a:ext cx="1940945" cy="2106862"/>
          </a:xfrm>
          <a:prstGeom prst="rtTriangle">
            <a:avLst/>
          </a:prstGeom>
          <a:solidFill>
            <a:srgbClr val="2152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AFB8C86-9D41-9590-05E1-4A2656D80C22}"/>
              </a:ext>
            </a:extLst>
          </p:cNvPr>
          <p:cNvSpPr txBox="1"/>
          <p:nvPr/>
        </p:nvSpPr>
        <p:spPr>
          <a:xfrm>
            <a:off x="9558068" y="6426680"/>
            <a:ext cx="2386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  <a:cs typeface="Segoe UI" panose="020B0502040204020203" pitchFamily="34" charset="0"/>
              </a:rPr>
              <a:t>Luis Neu - L&amp;L 2026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D2AE48E-D6E1-B8C7-2815-4F6C293D0139}"/>
              </a:ext>
            </a:extLst>
          </p:cNvPr>
          <p:cNvSpPr txBox="1"/>
          <p:nvPr/>
        </p:nvSpPr>
        <p:spPr>
          <a:xfrm>
            <a:off x="2475369" y="2828835"/>
            <a:ext cx="72289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200" b="1" dirty="0" err="1">
                <a:solidFill>
                  <a:srgbClr val="21527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What</a:t>
            </a:r>
            <a:r>
              <a:rPr lang="pt-BR" sz="7200" b="1" dirty="0">
                <a:solidFill>
                  <a:srgbClr val="21527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7200" b="1" dirty="0" err="1">
                <a:solidFill>
                  <a:srgbClr val="21527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is</a:t>
            </a:r>
            <a:r>
              <a:rPr lang="pt-BR" sz="7200" b="1" dirty="0">
                <a:solidFill>
                  <a:srgbClr val="21527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7200" b="1" u="sng" dirty="0">
                <a:solidFill>
                  <a:srgbClr val="21527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CDK8s</a:t>
            </a:r>
            <a:r>
              <a:rPr lang="pt-BR" sz="7200" b="1" dirty="0">
                <a:solidFill>
                  <a:srgbClr val="21527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? </a:t>
            </a:r>
          </a:p>
        </p:txBody>
      </p:sp>
    </p:spTree>
    <p:extLst>
      <p:ext uri="{BB962C8B-B14F-4D97-AF65-F5344CB8AC3E}">
        <p14:creationId xmlns:p14="http://schemas.microsoft.com/office/powerpoint/2010/main" val="11535143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BA5A1B-E5B2-0346-7F80-6EA68C197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Write Your Kubernetes Infrastructure as Go Code — “cdk8s-plus” in Action! |  by Abhishek Gupta | Better Programming">
            <a:extLst>
              <a:ext uri="{FF2B5EF4-FFF2-40B4-BE49-F238E27FC236}">
                <a16:creationId xmlns:a16="http://schemas.microsoft.com/office/drawing/2014/main" id="{4E2A1D47-8616-AB69-38C6-E620EF9AF3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57525" y="701279"/>
            <a:ext cx="2435689" cy="730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riângulo Retângulo 2">
            <a:extLst>
              <a:ext uri="{FF2B5EF4-FFF2-40B4-BE49-F238E27FC236}">
                <a16:creationId xmlns:a16="http://schemas.microsoft.com/office/drawing/2014/main" id="{AD4D50FA-FD35-1FBC-185E-64CD256E66C2}"/>
              </a:ext>
            </a:extLst>
          </p:cNvPr>
          <p:cNvSpPr/>
          <p:nvPr/>
        </p:nvSpPr>
        <p:spPr>
          <a:xfrm rot="16200000">
            <a:off x="8536330" y="3202328"/>
            <a:ext cx="3899140" cy="3412201"/>
          </a:xfrm>
          <a:prstGeom prst="rtTriangle">
            <a:avLst/>
          </a:prstGeom>
          <a:solidFill>
            <a:srgbClr val="2152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Triângulo Retângulo 3">
            <a:extLst>
              <a:ext uri="{FF2B5EF4-FFF2-40B4-BE49-F238E27FC236}">
                <a16:creationId xmlns:a16="http://schemas.microsoft.com/office/drawing/2014/main" id="{478386D1-3C4A-DAE8-54AA-2722B4CDC0A8}"/>
              </a:ext>
            </a:extLst>
          </p:cNvPr>
          <p:cNvSpPr/>
          <p:nvPr/>
        </p:nvSpPr>
        <p:spPr>
          <a:xfrm rot="5400000">
            <a:off x="82958" y="-82957"/>
            <a:ext cx="1940945" cy="2106862"/>
          </a:xfrm>
          <a:prstGeom prst="rtTriangle">
            <a:avLst/>
          </a:prstGeom>
          <a:solidFill>
            <a:srgbClr val="2152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49D13A4-F32F-E3C5-D702-1C04824F53DA}"/>
              </a:ext>
            </a:extLst>
          </p:cNvPr>
          <p:cNvSpPr txBox="1"/>
          <p:nvPr/>
        </p:nvSpPr>
        <p:spPr>
          <a:xfrm>
            <a:off x="9558068" y="6426680"/>
            <a:ext cx="2386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  <a:cs typeface="Segoe UI" panose="020B0502040204020203" pitchFamily="34" charset="0"/>
              </a:rPr>
              <a:t>Luis Neu - L&amp;L 2026</a:t>
            </a:r>
          </a:p>
        </p:txBody>
      </p:sp>
      <p:pic>
        <p:nvPicPr>
          <p:cNvPr id="8194" name="Picture 2" descr="AWS CDK — O bom, o ruim e o assustador | by Eduardo Rabelo | Medium">
            <a:extLst>
              <a:ext uri="{FF2B5EF4-FFF2-40B4-BE49-F238E27FC236}">
                <a16:creationId xmlns:a16="http://schemas.microsoft.com/office/drawing/2014/main" id="{7BBCDB87-D64E-1CC6-D82C-8B81536B3E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3634" y="2204247"/>
            <a:ext cx="6484732" cy="2449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8649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1637A-A11D-598F-36DC-C9AA2C87B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BB291710-7996-D196-6090-22FA1CA7818C}"/>
              </a:ext>
            </a:extLst>
          </p:cNvPr>
          <p:cNvCxnSpPr/>
          <p:nvPr/>
        </p:nvCxnSpPr>
        <p:spPr>
          <a:xfrm>
            <a:off x="4299495" y="3755156"/>
            <a:ext cx="7651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20B1DBEF-DFE6-C256-83BF-804E16910EC8}"/>
              </a:ext>
            </a:extLst>
          </p:cNvPr>
          <p:cNvCxnSpPr>
            <a:cxnSpLocks/>
          </p:cNvCxnSpPr>
          <p:nvPr/>
        </p:nvCxnSpPr>
        <p:spPr>
          <a:xfrm>
            <a:off x="5938040" y="3758864"/>
            <a:ext cx="1126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76FE3CF4-27E0-DE34-BDB9-0D6B6CB8575E}"/>
              </a:ext>
            </a:extLst>
          </p:cNvPr>
          <p:cNvCxnSpPr>
            <a:cxnSpLocks/>
          </p:cNvCxnSpPr>
          <p:nvPr/>
        </p:nvCxnSpPr>
        <p:spPr>
          <a:xfrm>
            <a:off x="7948774" y="3771199"/>
            <a:ext cx="11269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0" descr="Write Your Kubernetes Infrastructure as Go Code — “cdk8s-plus” in Action! |  by Abhishek Gupta | Better Programming">
            <a:extLst>
              <a:ext uri="{FF2B5EF4-FFF2-40B4-BE49-F238E27FC236}">
                <a16:creationId xmlns:a16="http://schemas.microsoft.com/office/drawing/2014/main" id="{C50295FB-F8E3-6A9E-7033-ABAEA56363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57525" y="701279"/>
            <a:ext cx="2435689" cy="730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riângulo Retângulo 2">
            <a:extLst>
              <a:ext uri="{FF2B5EF4-FFF2-40B4-BE49-F238E27FC236}">
                <a16:creationId xmlns:a16="http://schemas.microsoft.com/office/drawing/2014/main" id="{75871E61-A46B-D557-E933-F638FEE15CB6}"/>
              </a:ext>
            </a:extLst>
          </p:cNvPr>
          <p:cNvSpPr/>
          <p:nvPr/>
        </p:nvSpPr>
        <p:spPr>
          <a:xfrm rot="16200000">
            <a:off x="8536330" y="3202328"/>
            <a:ext cx="3899140" cy="3412201"/>
          </a:xfrm>
          <a:prstGeom prst="rtTriangle">
            <a:avLst/>
          </a:prstGeom>
          <a:solidFill>
            <a:srgbClr val="2152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Triângulo Retângulo 3">
            <a:extLst>
              <a:ext uri="{FF2B5EF4-FFF2-40B4-BE49-F238E27FC236}">
                <a16:creationId xmlns:a16="http://schemas.microsoft.com/office/drawing/2014/main" id="{E69B6996-9E3C-C4E8-5BC0-B2E9CBBD2987}"/>
              </a:ext>
            </a:extLst>
          </p:cNvPr>
          <p:cNvSpPr/>
          <p:nvPr/>
        </p:nvSpPr>
        <p:spPr>
          <a:xfrm rot="5400000">
            <a:off x="82958" y="-82957"/>
            <a:ext cx="1940945" cy="2106862"/>
          </a:xfrm>
          <a:prstGeom prst="rtTriangle">
            <a:avLst/>
          </a:prstGeom>
          <a:solidFill>
            <a:srgbClr val="2152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1124594-7D7F-3336-3E84-7E6E3F0956AF}"/>
              </a:ext>
            </a:extLst>
          </p:cNvPr>
          <p:cNvSpPr txBox="1"/>
          <p:nvPr/>
        </p:nvSpPr>
        <p:spPr>
          <a:xfrm>
            <a:off x="9558068" y="6426680"/>
            <a:ext cx="2386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  <a:cs typeface="Segoe UI" panose="020B0502040204020203" pitchFamily="34" charset="0"/>
              </a:rPr>
              <a:t>Luis Neu - L&amp;L 2026</a:t>
            </a:r>
          </a:p>
        </p:txBody>
      </p:sp>
      <p:pic>
        <p:nvPicPr>
          <p:cNvPr id="8194" name="Picture 2" descr="AWS CDK — O bom, o ruim e o assustador | by Eduardo Rabelo | Medium">
            <a:extLst>
              <a:ext uri="{FF2B5EF4-FFF2-40B4-BE49-F238E27FC236}">
                <a16:creationId xmlns:a16="http://schemas.microsoft.com/office/drawing/2014/main" id="{B31F72B5-4565-8D2A-36C1-5D95FD51D3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5610" y="602564"/>
            <a:ext cx="2457114" cy="928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9574255-8338-A6F6-891A-0E664A4430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3340" y="3317006"/>
            <a:ext cx="774700" cy="8763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8BA11DCC-DFB4-668A-FD06-7F1C4FB09A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1374" y="3317006"/>
            <a:ext cx="787400" cy="914400"/>
          </a:xfrm>
          <a:prstGeom prst="rect">
            <a:avLst/>
          </a:prstGeom>
        </p:spPr>
      </p:pic>
      <p:pic>
        <p:nvPicPr>
          <p:cNvPr id="10244" name="Picture 4" descr="AWS Cloud​Formation | CloudBank">
            <a:extLst>
              <a:ext uri="{FF2B5EF4-FFF2-40B4-BE49-F238E27FC236}">
                <a16:creationId xmlns:a16="http://schemas.microsoft.com/office/drawing/2014/main" id="{96145368-8DFA-F2E9-611B-B48C68C52B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7278" y="3135010"/>
            <a:ext cx="1271798" cy="1271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C0A09A-0A8D-D45A-7C8C-D96EE5F29B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4363" y="2652231"/>
            <a:ext cx="3435132" cy="2237356"/>
          </a:xfrm>
          <a:prstGeom prst="rect">
            <a:avLst/>
          </a:prstGeom>
        </p:spPr>
      </p:pic>
      <p:sp>
        <p:nvSpPr>
          <p:cNvPr id="20" name="CaixaDeTexto 19">
            <a:extLst>
              <a:ext uri="{FF2B5EF4-FFF2-40B4-BE49-F238E27FC236}">
                <a16:creationId xmlns:a16="http://schemas.microsoft.com/office/drawing/2014/main" id="{E73E3DB9-842B-3D1C-47C3-5C28D43DA251}"/>
              </a:ext>
            </a:extLst>
          </p:cNvPr>
          <p:cNvSpPr txBox="1"/>
          <p:nvPr/>
        </p:nvSpPr>
        <p:spPr>
          <a:xfrm>
            <a:off x="5112108" y="2645993"/>
            <a:ext cx="8771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 err="1"/>
              <a:t>compiler</a:t>
            </a:r>
            <a:endParaRPr lang="pt-BR" sz="1400" dirty="0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FA7B95B-CC91-E446-6D42-C9E0B694FD07}"/>
              </a:ext>
            </a:extLst>
          </p:cNvPr>
          <p:cNvSpPr txBox="1"/>
          <p:nvPr/>
        </p:nvSpPr>
        <p:spPr>
          <a:xfrm>
            <a:off x="7064779" y="2538271"/>
            <a:ext cx="9805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Assembly </a:t>
            </a:r>
          </a:p>
          <a:p>
            <a:r>
              <a:rPr lang="pt-BR" sz="1400" dirty="0" err="1"/>
              <a:t>Language</a:t>
            </a:r>
            <a:endParaRPr lang="pt-BR" sz="1400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5A4ECEC-0F24-6759-5289-2537B981D55F}"/>
              </a:ext>
            </a:extLst>
          </p:cNvPr>
          <p:cNvSpPr txBox="1"/>
          <p:nvPr/>
        </p:nvSpPr>
        <p:spPr>
          <a:xfrm>
            <a:off x="8981731" y="2616019"/>
            <a:ext cx="96289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processor</a:t>
            </a:r>
            <a:endParaRPr lang="pt-BR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5ADCD74-1914-662D-FDC4-C2B2432CF564}"/>
              </a:ext>
            </a:extLst>
          </p:cNvPr>
          <p:cNvSpPr txBox="1"/>
          <p:nvPr/>
        </p:nvSpPr>
        <p:spPr>
          <a:xfrm>
            <a:off x="5020223" y="4550305"/>
            <a:ext cx="10609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&gt; </a:t>
            </a:r>
            <a:r>
              <a:rPr lang="pt-BR" sz="1400" dirty="0" err="1"/>
              <a:t>cdk</a:t>
            </a:r>
            <a:r>
              <a:rPr lang="pt-BR" sz="1400" dirty="0"/>
              <a:t> </a:t>
            </a:r>
            <a:r>
              <a:rPr lang="pt-BR" sz="1400" dirty="0" err="1"/>
              <a:t>synth</a:t>
            </a:r>
            <a:endParaRPr lang="pt-BR" sz="1400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E8F25180-5D80-E934-3D97-0637635334D8}"/>
              </a:ext>
            </a:extLst>
          </p:cNvPr>
          <p:cNvSpPr txBox="1"/>
          <p:nvPr/>
        </p:nvSpPr>
        <p:spPr>
          <a:xfrm>
            <a:off x="6819030" y="4475302"/>
            <a:ext cx="14567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 err="1"/>
              <a:t>CloudFormation</a:t>
            </a:r>
            <a:endParaRPr lang="pt-BR" sz="1400" dirty="0"/>
          </a:p>
          <a:p>
            <a:pPr algn="ctr"/>
            <a:r>
              <a:rPr lang="pt-BR" sz="1400" dirty="0" err="1"/>
              <a:t>Template</a:t>
            </a:r>
            <a:endParaRPr lang="pt-BR" sz="1400" dirty="0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05E8B9E9-61CA-2E08-DEEE-EBFE4A500F35}"/>
              </a:ext>
            </a:extLst>
          </p:cNvPr>
          <p:cNvSpPr txBox="1"/>
          <p:nvPr/>
        </p:nvSpPr>
        <p:spPr>
          <a:xfrm>
            <a:off x="8734804" y="4475302"/>
            <a:ext cx="14567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1400" dirty="0"/>
              <a:t>AWS</a:t>
            </a:r>
          </a:p>
          <a:p>
            <a:pPr algn="ctr"/>
            <a:r>
              <a:rPr lang="pt-BR" sz="1400" dirty="0" err="1"/>
              <a:t>CloudFormation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12669796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BE119C8-E7D3-E257-3FBB-07C164CE3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Write Your Kubernetes Infrastructure as Go Code — “cdk8s-plus” in Action! |  by Abhishek Gupta | Better Programming">
            <a:extLst>
              <a:ext uri="{FF2B5EF4-FFF2-40B4-BE49-F238E27FC236}">
                <a16:creationId xmlns:a16="http://schemas.microsoft.com/office/drawing/2014/main" id="{60AD07AD-E45A-5334-F515-5AF5E93BA2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57525" y="701279"/>
            <a:ext cx="2435689" cy="730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riângulo Retângulo 2">
            <a:extLst>
              <a:ext uri="{FF2B5EF4-FFF2-40B4-BE49-F238E27FC236}">
                <a16:creationId xmlns:a16="http://schemas.microsoft.com/office/drawing/2014/main" id="{ECD01651-1708-E72D-6484-130EF10E6F17}"/>
              </a:ext>
            </a:extLst>
          </p:cNvPr>
          <p:cNvSpPr/>
          <p:nvPr/>
        </p:nvSpPr>
        <p:spPr>
          <a:xfrm rot="16200000">
            <a:off x="8536330" y="3202328"/>
            <a:ext cx="3899140" cy="3412201"/>
          </a:xfrm>
          <a:prstGeom prst="rtTriangle">
            <a:avLst/>
          </a:prstGeom>
          <a:solidFill>
            <a:srgbClr val="2152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Triângulo Retângulo 3">
            <a:extLst>
              <a:ext uri="{FF2B5EF4-FFF2-40B4-BE49-F238E27FC236}">
                <a16:creationId xmlns:a16="http://schemas.microsoft.com/office/drawing/2014/main" id="{42656BFD-8D92-B696-C8D5-A38E0A99A517}"/>
              </a:ext>
            </a:extLst>
          </p:cNvPr>
          <p:cNvSpPr/>
          <p:nvPr/>
        </p:nvSpPr>
        <p:spPr>
          <a:xfrm rot="5400000">
            <a:off x="82958" y="-82957"/>
            <a:ext cx="1940945" cy="2106862"/>
          </a:xfrm>
          <a:prstGeom prst="rtTriangle">
            <a:avLst/>
          </a:prstGeom>
          <a:solidFill>
            <a:srgbClr val="2152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FD69DFC-EF77-92DF-72AA-777CD2929A2C}"/>
              </a:ext>
            </a:extLst>
          </p:cNvPr>
          <p:cNvSpPr txBox="1"/>
          <p:nvPr/>
        </p:nvSpPr>
        <p:spPr>
          <a:xfrm>
            <a:off x="9558068" y="6426680"/>
            <a:ext cx="2386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  <a:cs typeface="Segoe UI" panose="020B0502040204020203" pitchFamily="34" charset="0"/>
              </a:rPr>
              <a:t>Luis Neu - L&amp;L 2026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6479F76-0CA3-B9AF-0D2F-1B8D33DDAC33}"/>
              </a:ext>
            </a:extLst>
          </p:cNvPr>
          <p:cNvSpPr txBox="1"/>
          <p:nvPr/>
        </p:nvSpPr>
        <p:spPr>
          <a:xfrm>
            <a:off x="3599267" y="1448486"/>
            <a:ext cx="40675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 err="1">
                <a:solidFill>
                  <a:srgbClr val="21527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How</a:t>
            </a:r>
            <a:r>
              <a:rPr lang="pt-BR" sz="4400" b="1" dirty="0">
                <a:solidFill>
                  <a:srgbClr val="21527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It Works?</a:t>
            </a:r>
          </a:p>
        </p:txBody>
      </p:sp>
      <p:sp>
        <p:nvSpPr>
          <p:cNvPr id="9" name="Retângulo Arredondado 8">
            <a:extLst>
              <a:ext uri="{FF2B5EF4-FFF2-40B4-BE49-F238E27FC236}">
                <a16:creationId xmlns:a16="http://schemas.microsoft.com/office/drawing/2014/main" id="{6D0DAB36-3FB6-FD2C-5AF3-1DFD84481321}"/>
              </a:ext>
            </a:extLst>
          </p:cNvPr>
          <p:cNvSpPr/>
          <p:nvPr/>
        </p:nvSpPr>
        <p:spPr>
          <a:xfrm>
            <a:off x="1905265" y="2505564"/>
            <a:ext cx="7333453" cy="3549144"/>
          </a:xfrm>
          <a:prstGeom prst="roundRect">
            <a:avLst/>
          </a:prstGeom>
          <a:solidFill>
            <a:srgbClr val="215276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Retângulo Arredondado 9">
            <a:extLst>
              <a:ext uri="{FF2B5EF4-FFF2-40B4-BE49-F238E27FC236}">
                <a16:creationId xmlns:a16="http://schemas.microsoft.com/office/drawing/2014/main" id="{C283115A-7E9B-0B49-B4A8-1E7E3879E5AD}"/>
              </a:ext>
            </a:extLst>
          </p:cNvPr>
          <p:cNvSpPr/>
          <p:nvPr/>
        </p:nvSpPr>
        <p:spPr>
          <a:xfrm>
            <a:off x="2263074" y="3117414"/>
            <a:ext cx="6647840" cy="2514600"/>
          </a:xfrm>
          <a:prstGeom prst="roundRect">
            <a:avLst/>
          </a:prstGeom>
          <a:solidFill>
            <a:srgbClr val="215276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Arredondado 10">
            <a:extLst>
              <a:ext uri="{FF2B5EF4-FFF2-40B4-BE49-F238E27FC236}">
                <a16:creationId xmlns:a16="http://schemas.microsoft.com/office/drawing/2014/main" id="{F9E68920-ACF4-D8C8-EEC2-B0EDC700A668}"/>
              </a:ext>
            </a:extLst>
          </p:cNvPr>
          <p:cNvSpPr/>
          <p:nvPr/>
        </p:nvSpPr>
        <p:spPr>
          <a:xfrm>
            <a:off x="2567875" y="3703209"/>
            <a:ext cx="3366926" cy="1808035"/>
          </a:xfrm>
          <a:prstGeom prst="roundRect">
            <a:avLst/>
          </a:prstGeom>
          <a:solidFill>
            <a:srgbClr val="215276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Arredondado 11">
            <a:extLst>
              <a:ext uri="{FF2B5EF4-FFF2-40B4-BE49-F238E27FC236}">
                <a16:creationId xmlns:a16="http://schemas.microsoft.com/office/drawing/2014/main" id="{22258DE6-6C1B-52C9-0040-57CCD36E2185}"/>
              </a:ext>
            </a:extLst>
          </p:cNvPr>
          <p:cNvSpPr/>
          <p:nvPr/>
        </p:nvSpPr>
        <p:spPr>
          <a:xfrm>
            <a:off x="6223785" y="3703209"/>
            <a:ext cx="2398143" cy="1808035"/>
          </a:xfrm>
          <a:prstGeom prst="roundRect">
            <a:avLst/>
          </a:prstGeom>
          <a:solidFill>
            <a:srgbClr val="215276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67EB958-6C8E-0CEC-2880-5B3F69E7C76A}"/>
              </a:ext>
            </a:extLst>
          </p:cNvPr>
          <p:cNvSpPr txBox="1"/>
          <p:nvPr/>
        </p:nvSpPr>
        <p:spPr>
          <a:xfrm>
            <a:off x="4896326" y="2586023"/>
            <a:ext cx="1381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CDK8S App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E85B9A7-F351-EB2E-BF7D-0D34225A65E9}"/>
              </a:ext>
            </a:extLst>
          </p:cNvPr>
          <p:cNvSpPr txBox="1"/>
          <p:nvPr/>
        </p:nvSpPr>
        <p:spPr>
          <a:xfrm>
            <a:off x="5126567" y="3180915"/>
            <a:ext cx="893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Chart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B3B52EE3-90F9-7239-8B26-ED8FF39065D8}"/>
              </a:ext>
            </a:extLst>
          </p:cNvPr>
          <p:cNvSpPr txBox="1"/>
          <p:nvPr/>
        </p:nvSpPr>
        <p:spPr>
          <a:xfrm>
            <a:off x="3648289" y="3703564"/>
            <a:ext cx="1206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>
                <a:solidFill>
                  <a:schemeClr val="bg1"/>
                </a:solidFill>
              </a:rPr>
              <a:t>Construct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434A3202-A51D-C0F7-F2C3-1D388FC6B9FF}"/>
              </a:ext>
            </a:extLst>
          </p:cNvPr>
          <p:cNvSpPr txBox="1"/>
          <p:nvPr/>
        </p:nvSpPr>
        <p:spPr>
          <a:xfrm>
            <a:off x="6867907" y="3748810"/>
            <a:ext cx="1206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>
                <a:solidFill>
                  <a:schemeClr val="bg1"/>
                </a:solidFill>
              </a:rPr>
              <a:t>Construct</a:t>
            </a:r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4102" name="Picture 6" descr="K8S · Diagrams">
            <a:extLst>
              <a:ext uri="{FF2B5EF4-FFF2-40B4-BE49-F238E27FC236}">
                <a16:creationId xmlns:a16="http://schemas.microsoft.com/office/drawing/2014/main" id="{8CEA2308-337E-6D02-931C-406349C6F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010" y="4310924"/>
            <a:ext cx="894889" cy="894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F155FB07-61D8-A47D-118B-1BE874F77F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2426" y="4324565"/>
            <a:ext cx="867609" cy="867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>
            <a:extLst>
              <a:ext uri="{FF2B5EF4-FFF2-40B4-BE49-F238E27FC236}">
                <a16:creationId xmlns:a16="http://schemas.microsoft.com/office/drawing/2014/main" id="{FD084B7B-CE22-3E49-E91C-B08BB67B57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7596" y="4324565"/>
            <a:ext cx="898896" cy="898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>
            <a:extLst>
              <a:ext uri="{FF2B5EF4-FFF2-40B4-BE49-F238E27FC236}">
                <a16:creationId xmlns:a16="http://schemas.microsoft.com/office/drawing/2014/main" id="{8B95842A-5CB1-E1D3-1A2C-583E73565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9406" y="4324565"/>
            <a:ext cx="909608" cy="909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2">
            <a:extLst>
              <a:ext uri="{FF2B5EF4-FFF2-40B4-BE49-F238E27FC236}">
                <a16:creationId xmlns:a16="http://schemas.microsoft.com/office/drawing/2014/main" id="{B2C5A60D-313F-4847-A430-9AF80C12EA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5038" y="4335502"/>
            <a:ext cx="909608" cy="909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2651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A66F0-24F7-9024-E83F-501098B7B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Write Your Kubernetes Infrastructure as Go Code — “cdk8s-plus” in Action! |  by Abhishek Gupta | Better Programming">
            <a:extLst>
              <a:ext uri="{FF2B5EF4-FFF2-40B4-BE49-F238E27FC236}">
                <a16:creationId xmlns:a16="http://schemas.microsoft.com/office/drawing/2014/main" id="{C54D2DC9-DA46-D76C-48A5-BF79F25E7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57525" y="701279"/>
            <a:ext cx="2435689" cy="730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riângulo Retângulo 2">
            <a:extLst>
              <a:ext uri="{FF2B5EF4-FFF2-40B4-BE49-F238E27FC236}">
                <a16:creationId xmlns:a16="http://schemas.microsoft.com/office/drawing/2014/main" id="{8E0831E7-828E-A05D-B236-2AFA874AAACA}"/>
              </a:ext>
            </a:extLst>
          </p:cNvPr>
          <p:cNvSpPr/>
          <p:nvPr/>
        </p:nvSpPr>
        <p:spPr>
          <a:xfrm rot="16200000">
            <a:off x="8536330" y="3202328"/>
            <a:ext cx="3899140" cy="3412201"/>
          </a:xfrm>
          <a:prstGeom prst="rtTriangle">
            <a:avLst/>
          </a:prstGeom>
          <a:solidFill>
            <a:srgbClr val="2152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Triângulo Retângulo 3">
            <a:extLst>
              <a:ext uri="{FF2B5EF4-FFF2-40B4-BE49-F238E27FC236}">
                <a16:creationId xmlns:a16="http://schemas.microsoft.com/office/drawing/2014/main" id="{C2B42526-91D3-5D39-09CE-802BD15AD5F1}"/>
              </a:ext>
            </a:extLst>
          </p:cNvPr>
          <p:cNvSpPr/>
          <p:nvPr/>
        </p:nvSpPr>
        <p:spPr>
          <a:xfrm rot="5400000">
            <a:off x="82958" y="-82957"/>
            <a:ext cx="1940945" cy="2106862"/>
          </a:xfrm>
          <a:prstGeom prst="rtTriangle">
            <a:avLst/>
          </a:prstGeom>
          <a:solidFill>
            <a:srgbClr val="2152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0BE09E7-49E6-D9A4-D6BB-090E6BFA6B29}"/>
              </a:ext>
            </a:extLst>
          </p:cNvPr>
          <p:cNvSpPr txBox="1"/>
          <p:nvPr/>
        </p:nvSpPr>
        <p:spPr>
          <a:xfrm>
            <a:off x="9558068" y="6426680"/>
            <a:ext cx="2386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  <a:cs typeface="Segoe UI" panose="020B0502040204020203" pitchFamily="34" charset="0"/>
              </a:rPr>
              <a:t>Luis Neu - L&amp;L 2026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249E7D1-48B0-9DE0-ADAB-C1D71E34E887}"/>
              </a:ext>
            </a:extLst>
          </p:cNvPr>
          <p:cNvSpPr txBox="1"/>
          <p:nvPr/>
        </p:nvSpPr>
        <p:spPr>
          <a:xfrm>
            <a:off x="3599267" y="1448486"/>
            <a:ext cx="40675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 err="1">
                <a:solidFill>
                  <a:srgbClr val="21527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How</a:t>
            </a:r>
            <a:r>
              <a:rPr lang="pt-BR" sz="4400" b="1" dirty="0">
                <a:solidFill>
                  <a:srgbClr val="21527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It Works?</a:t>
            </a:r>
          </a:p>
        </p:txBody>
      </p:sp>
      <p:sp>
        <p:nvSpPr>
          <p:cNvPr id="9" name="Retângulo Arredondado 8">
            <a:extLst>
              <a:ext uri="{FF2B5EF4-FFF2-40B4-BE49-F238E27FC236}">
                <a16:creationId xmlns:a16="http://schemas.microsoft.com/office/drawing/2014/main" id="{03A81111-8A10-6A5B-D255-768FED824994}"/>
              </a:ext>
            </a:extLst>
          </p:cNvPr>
          <p:cNvSpPr/>
          <p:nvPr/>
        </p:nvSpPr>
        <p:spPr>
          <a:xfrm>
            <a:off x="1905265" y="2505564"/>
            <a:ext cx="7333453" cy="3549144"/>
          </a:xfrm>
          <a:prstGeom prst="roundRect">
            <a:avLst/>
          </a:prstGeom>
          <a:solidFill>
            <a:srgbClr val="215276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Retângulo Arredondado 9">
            <a:extLst>
              <a:ext uri="{FF2B5EF4-FFF2-40B4-BE49-F238E27FC236}">
                <a16:creationId xmlns:a16="http://schemas.microsoft.com/office/drawing/2014/main" id="{D88393A3-0445-342D-81AF-5355E7FBAC48}"/>
              </a:ext>
            </a:extLst>
          </p:cNvPr>
          <p:cNvSpPr/>
          <p:nvPr/>
        </p:nvSpPr>
        <p:spPr>
          <a:xfrm>
            <a:off x="2263074" y="3117414"/>
            <a:ext cx="6647840" cy="2514600"/>
          </a:xfrm>
          <a:prstGeom prst="roundRect">
            <a:avLst/>
          </a:prstGeom>
          <a:solidFill>
            <a:srgbClr val="215276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Arredondado 10">
            <a:extLst>
              <a:ext uri="{FF2B5EF4-FFF2-40B4-BE49-F238E27FC236}">
                <a16:creationId xmlns:a16="http://schemas.microsoft.com/office/drawing/2014/main" id="{5B917C04-4327-5E6D-ADF8-FCD4D59B7E45}"/>
              </a:ext>
            </a:extLst>
          </p:cNvPr>
          <p:cNvSpPr/>
          <p:nvPr/>
        </p:nvSpPr>
        <p:spPr>
          <a:xfrm>
            <a:off x="2567875" y="3703209"/>
            <a:ext cx="3366926" cy="1808035"/>
          </a:xfrm>
          <a:prstGeom prst="roundRect">
            <a:avLst/>
          </a:prstGeom>
          <a:solidFill>
            <a:srgbClr val="215276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 Arredondado 11">
            <a:extLst>
              <a:ext uri="{FF2B5EF4-FFF2-40B4-BE49-F238E27FC236}">
                <a16:creationId xmlns:a16="http://schemas.microsoft.com/office/drawing/2014/main" id="{99A32961-EB83-9F12-584F-8868A6C505F2}"/>
              </a:ext>
            </a:extLst>
          </p:cNvPr>
          <p:cNvSpPr/>
          <p:nvPr/>
        </p:nvSpPr>
        <p:spPr>
          <a:xfrm>
            <a:off x="6223785" y="3703209"/>
            <a:ext cx="2398143" cy="1808035"/>
          </a:xfrm>
          <a:prstGeom prst="roundRect">
            <a:avLst/>
          </a:prstGeom>
          <a:solidFill>
            <a:srgbClr val="215276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00643CB-5B49-4F4A-B663-73FBD05E1C10}"/>
              </a:ext>
            </a:extLst>
          </p:cNvPr>
          <p:cNvSpPr txBox="1"/>
          <p:nvPr/>
        </p:nvSpPr>
        <p:spPr>
          <a:xfrm>
            <a:off x="4896326" y="2586023"/>
            <a:ext cx="1381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CDK8S App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3374A3E-2AFC-F85C-B789-663F91CC1DF6}"/>
              </a:ext>
            </a:extLst>
          </p:cNvPr>
          <p:cNvSpPr txBox="1"/>
          <p:nvPr/>
        </p:nvSpPr>
        <p:spPr>
          <a:xfrm>
            <a:off x="5126567" y="3180915"/>
            <a:ext cx="893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chemeClr val="bg1"/>
                </a:solidFill>
              </a:rPr>
              <a:t>Chart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8CE3267-65DA-2E95-7037-781664152F54}"/>
              </a:ext>
            </a:extLst>
          </p:cNvPr>
          <p:cNvSpPr txBox="1"/>
          <p:nvPr/>
        </p:nvSpPr>
        <p:spPr>
          <a:xfrm>
            <a:off x="3648289" y="3703564"/>
            <a:ext cx="1206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>
                <a:solidFill>
                  <a:schemeClr val="bg1"/>
                </a:solidFill>
              </a:rPr>
              <a:t>Construct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9C5FC29-0187-8FF1-0D10-CD60CD7B11BA}"/>
              </a:ext>
            </a:extLst>
          </p:cNvPr>
          <p:cNvSpPr txBox="1"/>
          <p:nvPr/>
        </p:nvSpPr>
        <p:spPr>
          <a:xfrm>
            <a:off x="6867907" y="3748810"/>
            <a:ext cx="1206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>
                <a:solidFill>
                  <a:schemeClr val="bg1"/>
                </a:solidFill>
              </a:rPr>
              <a:t>Construct</a:t>
            </a:r>
            <a:endParaRPr lang="pt-BR" dirty="0">
              <a:solidFill>
                <a:schemeClr val="bg1"/>
              </a:solidFill>
            </a:endParaRPr>
          </a:p>
        </p:txBody>
      </p:sp>
      <p:pic>
        <p:nvPicPr>
          <p:cNvPr id="4102" name="Picture 6" descr="K8S · Diagrams">
            <a:extLst>
              <a:ext uri="{FF2B5EF4-FFF2-40B4-BE49-F238E27FC236}">
                <a16:creationId xmlns:a16="http://schemas.microsoft.com/office/drawing/2014/main" id="{0010E33D-2BE0-FAF9-1134-6EE1396A0D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010" y="4310924"/>
            <a:ext cx="894889" cy="894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779A93FE-5CB5-46EF-AC48-CA1E99B2DB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2426" y="4324565"/>
            <a:ext cx="867609" cy="8676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>
            <a:extLst>
              <a:ext uri="{FF2B5EF4-FFF2-40B4-BE49-F238E27FC236}">
                <a16:creationId xmlns:a16="http://schemas.microsoft.com/office/drawing/2014/main" id="{A6B8E011-CA53-8CC1-BC25-F43E2169E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7596" y="4324565"/>
            <a:ext cx="898896" cy="898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8" name="Picture 12">
            <a:extLst>
              <a:ext uri="{FF2B5EF4-FFF2-40B4-BE49-F238E27FC236}">
                <a16:creationId xmlns:a16="http://schemas.microsoft.com/office/drawing/2014/main" id="{5E39D2F8-8649-DE9C-2836-506FEBA676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9406" y="4324565"/>
            <a:ext cx="909608" cy="909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2">
            <a:extLst>
              <a:ext uri="{FF2B5EF4-FFF2-40B4-BE49-F238E27FC236}">
                <a16:creationId xmlns:a16="http://schemas.microsoft.com/office/drawing/2014/main" id="{3EE5F219-5536-2C4B-CD35-DD008B308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5038" y="4335502"/>
            <a:ext cx="909608" cy="909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25632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31C26-E38E-FB4C-6EE0-7DB186B9A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Write Your Kubernetes Infrastructure as Go Code — “cdk8s-plus” in Action! |  by Abhishek Gupta | Better Programming">
            <a:extLst>
              <a:ext uri="{FF2B5EF4-FFF2-40B4-BE49-F238E27FC236}">
                <a16:creationId xmlns:a16="http://schemas.microsoft.com/office/drawing/2014/main" id="{BCCA6379-6318-761F-C105-C35B3959EB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57525" y="701279"/>
            <a:ext cx="2435689" cy="730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riângulo Retângulo 2">
            <a:extLst>
              <a:ext uri="{FF2B5EF4-FFF2-40B4-BE49-F238E27FC236}">
                <a16:creationId xmlns:a16="http://schemas.microsoft.com/office/drawing/2014/main" id="{A872E080-B68D-0AE4-A8DA-A8C742F2E847}"/>
              </a:ext>
            </a:extLst>
          </p:cNvPr>
          <p:cNvSpPr/>
          <p:nvPr/>
        </p:nvSpPr>
        <p:spPr>
          <a:xfrm rot="16200000">
            <a:off x="8536330" y="3202328"/>
            <a:ext cx="3899140" cy="3412201"/>
          </a:xfrm>
          <a:prstGeom prst="rtTriangle">
            <a:avLst/>
          </a:prstGeom>
          <a:solidFill>
            <a:srgbClr val="2152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Triângulo Retângulo 3">
            <a:extLst>
              <a:ext uri="{FF2B5EF4-FFF2-40B4-BE49-F238E27FC236}">
                <a16:creationId xmlns:a16="http://schemas.microsoft.com/office/drawing/2014/main" id="{FAE3EFEE-3D0E-4DCD-7806-C2BA42F9B7F0}"/>
              </a:ext>
            </a:extLst>
          </p:cNvPr>
          <p:cNvSpPr/>
          <p:nvPr/>
        </p:nvSpPr>
        <p:spPr>
          <a:xfrm rot="5400000">
            <a:off x="82958" y="-82957"/>
            <a:ext cx="1940945" cy="2106862"/>
          </a:xfrm>
          <a:prstGeom prst="rtTriangle">
            <a:avLst/>
          </a:prstGeom>
          <a:solidFill>
            <a:srgbClr val="2152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1895DCF-AA5D-90CF-B3C0-BE7BCAA83681}"/>
              </a:ext>
            </a:extLst>
          </p:cNvPr>
          <p:cNvSpPr txBox="1"/>
          <p:nvPr/>
        </p:nvSpPr>
        <p:spPr>
          <a:xfrm>
            <a:off x="9558068" y="6426680"/>
            <a:ext cx="2386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  <a:cs typeface="Segoe UI" panose="020B0502040204020203" pitchFamily="34" charset="0"/>
              </a:rPr>
              <a:t>Luis Neu - L&amp;L 2026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2179587-38A0-25E1-F413-BB286A6648E5}"/>
              </a:ext>
            </a:extLst>
          </p:cNvPr>
          <p:cNvSpPr txBox="1"/>
          <p:nvPr/>
        </p:nvSpPr>
        <p:spPr>
          <a:xfrm>
            <a:off x="4169021" y="877988"/>
            <a:ext cx="38539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b="1" dirty="0" err="1">
                <a:solidFill>
                  <a:srgbClr val="21527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Constructs</a:t>
            </a:r>
            <a:endParaRPr lang="pt-BR" sz="7200" b="1" dirty="0">
              <a:solidFill>
                <a:srgbClr val="21527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4B302FB-9738-609F-AD62-6AF4B3848B08}"/>
              </a:ext>
            </a:extLst>
          </p:cNvPr>
          <p:cNvSpPr txBox="1"/>
          <p:nvPr/>
        </p:nvSpPr>
        <p:spPr>
          <a:xfrm>
            <a:off x="543334" y="6341201"/>
            <a:ext cx="36256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0" i="0" u="none" strike="noStrike" dirty="0">
                <a:solidFill>
                  <a:srgbClr val="4DAAFC"/>
                </a:solidFill>
                <a:effectLst/>
                <a:latin typeface="-apple-system"/>
                <a:hlinkClick r:id="rId4"/>
              </a:rPr>
              <a:t>https://github.com/aws/constructs</a:t>
            </a:r>
            <a:endParaRPr lang="pt-BR" dirty="0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00D1AA89-630C-990F-DD2D-5AEF0DC671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8575" y="1940947"/>
            <a:ext cx="4794849" cy="4173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6131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E0354-B6BB-620C-7A7D-724AE5011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Imagem 22">
            <a:extLst>
              <a:ext uri="{FF2B5EF4-FFF2-40B4-BE49-F238E27FC236}">
                <a16:creationId xmlns:a16="http://schemas.microsoft.com/office/drawing/2014/main" id="{E73ED285-D420-EE78-4440-BDC4E8B1E3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198" y="3166685"/>
            <a:ext cx="4024729" cy="3267133"/>
          </a:xfrm>
          <a:prstGeom prst="rect">
            <a:avLst/>
          </a:prstGeom>
        </p:spPr>
      </p:pic>
      <p:pic>
        <p:nvPicPr>
          <p:cNvPr id="2" name="Picture 10" descr="Write Your Kubernetes Infrastructure as Go Code — “cdk8s-plus” in Action! |  by Abhishek Gupta | Better Programming">
            <a:extLst>
              <a:ext uri="{FF2B5EF4-FFF2-40B4-BE49-F238E27FC236}">
                <a16:creationId xmlns:a16="http://schemas.microsoft.com/office/drawing/2014/main" id="{6FF9B8F8-3140-891C-53AD-185D1F1F6E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57525" y="701279"/>
            <a:ext cx="2435689" cy="730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riângulo Retângulo 2">
            <a:extLst>
              <a:ext uri="{FF2B5EF4-FFF2-40B4-BE49-F238E27FC236}">
                <a16:creationId xmlns:a16="http://schemas.microsoft.com/office/drawing/2014/main" id="{1D0E439F-528E-D878-E8D4-8FCF973C877E}"/>
              </a:ext>
            </a:extLst>
          </p:cNvPr>
          <p:cNvSpPr/>
          <p:nvPr/>
        </p:nvSpPr>
        <p:spPr>
          <a:xfrm rot="16200000">
            <a:off x="8536330" y="3202328"/>
            <a:ext cx="3899140" cy="3412201"/>
          </a:xfrm>
          <a:prstGeom prst="rtTriangle">
            <a:avLst/>
          </a:prstGeom>
          <a:solidFill>
            <a:srgbClr val="2152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Triângulo Retângulo 3">
            <a:extLst>
              <a:ext uri="{FF2B5EF4-FFF2-40B4-BE49-F238E27FC236}">
                <a16:creationId xmlns:a16="http://schemas.microsoft.com/office/drawing/2014/main" id="{DC0A26EE-C8D8-2EB9-3371-49B0F6CE6D7F}"/>
              </a:ext>
            </a:extLst>
          </p:cNvPr>
          <p:cNvSpPr/>
          <p:nvPr/>
        </p:nvSpPr>
        <p:spPr>
          <a:xfrm rot="5400000">
            <a:off x="82958" y="-82957"/>
            <a:ext cx="1940945" cy="2106862"/>
          </a:xfrm>
          <a:prstGeom prst="rtTriangle">
            <a:avLst/>
          </a:prstGeom>
          <a:solidFill>
            <a:srgbClr val="2152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89AD0EDC-F321-24F6-4166-1FAB8B7B6661}"/>
              </a:ext>
            </a:extLst>
          </p:cNvPr>
          <p:cNvSpPr txBox="1"/>
          <p:nvPr/>
        </p:nvSpPr>
        <p:spPr>
          <a:xfrm>
            <a:off x="9558068" y="6426680"/>
            <a:ext cx="2386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  <a:cs typeface="Segoe UI" panose="020B0502040204020203" pitchFamily="34" charset="0"/>
              </a:rPr>
              <a:t>Luis Neu - L&amp;L 2026</a:t>
            </a: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9309A944-72BF-5839-04A5-CDAC746C33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9362" y="1863663"/>
            <a:ext cx="477302" cy="477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0" descr="Write Your Kubernetes Infrastructure as Go Code — “cdk8s-plus” in Action! |  by Abhishek Gupta | Better Programming">
            <a:extLst>
              <a:ext uri="{FF2B5EF4-FFF2-40B4-BE49-F238E27FC236}">
                <a16:creationId xmlns:a16="http://schemas.microsoft.com/office/drawing/2014/main" id="{27613B4D-09E3-0576-1E7B-D62E3CEE87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771934" y="2004354"/>
            <a:ext cx="837685" cy="2513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Write Your Kubernetes Infrastructure as Go Code — “cdk8s-plus” in Action! |  by Abhishek Gupta | Better Programming">
            <a:extLst>
              <a:ext uri="{FF2B5EF4-FFF2-40B4-BE49-F238E27FC236}">
                <a16:creationId xmlns:a16="http://schemas.microsoft.com/office/drawing/2014/main" id="{31F5813B-52ED-4E25-852B-B9807E5310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07111" y="1945340"/>
            <a:ext cx="1231110" cy="3693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68" name="Picture 4">
            <a:extLst>
              <a:ext uri="{FF2B5EF4-FFF2-40B4-BE49-F238E27FC236}">
                <a16:creationId xmlns:a16="http://schemas.microsoft.com/office/drawing/2014/main" id="{8B0672F9-3954-D969-A53D-697CEB5137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6860" y="1718382"/>
            <a:ext cx="790082" cy="767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90006C85-6C6C-2DF9-C521-F17F0E595728}"/>
              </a:ext>
            </a:extLst>
          </p:cNvPr>
          <p:cNvSpPr txBox="1"/>
          <p:nvPr/>
        </p:nvSpPr>
        <p:spPr>
          <a:xfrm>
            <a:off x="5324165" y="2435141"/>
            <a:ext cx="896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&gt; </a:t>
            </a:r>
            <a:r>
              <a:rPr lang="pt-BR" dirty="0" err="1"/>
              <a:t>synth</a:t>
            </a: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B8A30F4-6F7C-389B-F998-ADEA5FFC35A3}"/>
              </a:ext>
            </a:extLst>
          </p:cNvPr>
          <p:cNvSpPr txBox="1"/>
          <p:nvPr/>
        </p:nvSpPr>
        <p:spPr>
          <a:xfrm>
            <a:off x="1853177" y="2435141"/>
            <a:ext cx="2415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Typescript</a:t>
            </a:r>
            <a:r>
              <a:rPr lang="pt-BR" dirty="0"/>
              <a:t> </a:t>
            </a:r>
            <a:r>
              <a:rPr lang="pt-BR" dirty="0" err="1"/>
              <a:t>with</a:t>
            </a:r>
            <a:r>
              <a:rPr lang="pt-BR" dirty="0"/>
              <a:t> CDK8s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EC0CDDB-5E04-C682-9E34-089F706D73E3}"/>
              </a:ext>
            </a:extLst>
          </p:cNvPr>
          <p:cNvSpPr txBox="1"/>
          <p:nvPr/>
        </p:nvSpPr>
        <p:spPr>
          <a:xfrm>
            <a:off x="7371228" y="2435141"/>
            <a:ext cx="234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Kubernetes</a:t>
            </a:r>
            <a:r>
              <a:rPr lang="pt-BR" dirty="0"/>
              <a:t> </a:t>
            </a:r>
            <a:r>
              <a:rPr lang="pt-BR" dirty="0" err="1"/>
              <a:t>Manifests</a:t>
            </a:r>
            <a:endParaRPr lang="pt-BR" dirty="0"/>
          </a:p>
        </p:txBody>
      </p: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12827FEF-8B30-9267-9A4E-305AC9258BDA}"/>
              </a:ext>
            </a:extLst>
          </p:cNvPr>
          <p:cNvCxnSpPr>
            <a:cxnSpLocks/>
            <a:stCxn id="7" idx="3"/>
            <a:endCxn id="10" idx="1"/>
          </p:cNvCxnSpPr>
          <p:nvPr/>
        </p:nvCxnSpPr>
        <p:spPr>
          <a:xfrm>
            <a:off x="3609619" y="2130007"/>
            <a:ext cx="15974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F76F7F2B-C2CB-4BD6-081A-1CC35F280F54}"/>
              </a:ext>
            </a:extLst>
          </p:cNvPr>
          <p:cNvCxnSpPr>
            <a:cxnSpLocks/>
          </p:cNvCxnSpPr>
          <p:nvPr/>
        </p:nvCxnSpPr>
        <p:spPr>
          <a:xfrm>
            <a:off x="6438221" y="2130006"/>
            <a:ext cx="15974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54CD0C8-7992-99AA-F97C-8040447B3A17}"/>
              </a:ext>
            </a:extLst>
          </p:cNvPr>
          <p:cNvSpPr txBox="1"/>
          <p:nvPr/>
        </p:nvSpPr>
        <p:spPr>
          <a:xfrm>
            <a:off x="4950740" y="631663"/>
            <a:ext cx="18004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b="1" dirty="0">
                <a:solidFill>
                  <a:srgbClr val="21527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Flow</a:t>
            </a:r>
            <a:endParaRPr lang="pt-BR" sz="7200" b="1" dirty="0">
              <a:solidFill>
                <a:srgbClr val="21527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272" name="Picture 8" descr="Yaml File Document Icon Icons - Free SVG &amp; PNG Yaml File Document Icon  Images - Noun Project">
            <a:extLst>
              <a:ext uri="{FF2B5EF4-FFF2-40B4-BE49-F238E27FC236}">
                <a16:creationId xmlns:a16="http://schemas.microsoft.com/office/drawing/2014/main" id="{7C3CD60C-DEB3-E4AE-66FD-095369E136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4305" y="1878849"/>
            <a:ext cx="784899" cy="784899"/>
          </a:xfrm>
          <a:prstGeom prst="rect">
            <a:avLst/>
          </a:prstGeom>
          <a:noFill/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867EE926-2289-6A9F-FD12-557EB1E84E3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1589" y="3109606"/>
            <a:ext cx="3768115" cy="339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4203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C90FF-0A8C-775B-4ED4-1AF632664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Write Your Kubernetes Infrastructure as Go Code — “cdk8s-plus” in Action! |  by Abhishek Gupta | Better Programming">
            <a:extLst>
              <a:ext uri="{FF2B5EF4-FFF2-40B4-BE49-F238E27FC236}">
                <a16:creationId xmlns:a16="http://schemas.microsoft.com/office/drawing/2014/main" id="{1CC9D508-2F2A-E16F-6195-EA7D000B75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57525" y="701279"/>
            <a:ext cx="2435689" cy="730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riângulo Retângulo 2">
            <a:extLst>
              <a:ext uri="{FF2B5EF4-FFF2-40B4-BE49-F238E27FC236}">
                <a16:creationId xmlns:a16="http://schemas.microsoft.com/office/drawing/2014/main" id="{45FE3ACB-21CB-69A1-CA6C-4532BF13CD0A}"/>
              </a:ext>
            </a:extLst>
          </p:cNvPr>
          <p:cNvSpPr/>
          <p:nvPr/>
        </p:nvSpPr>
        <p:spPr>
          <a:xfrm rot="16200000">
            <a:off x="8536330" y="3202328"/>
            <a:ext cx="3899140" cy="3412201"/>
          </a:xfrm>
          <a:prstGeom prst="rtTriangle">
            <a:avLst/>
          </a:prstGeom>
          <a:solidFill>
            <a:srgbClr val="2152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Triângulo Retângulo 3">
            <a:extLst>
              <a:ext uri="{FF2B5EF4-FFF2-40B4-BE49-F238E27FC236}">
                <a16:creationId xmlns:a16="http://schemas.microsoft.com/office/drawing/2014/main" id="{B3BC9CEA-EB1C-96EC-140B-CA46B7E89B9A}"/>
              </a:ext>
            </a:extLst>
          </p:cNvPr>
          <p:cNvSpPr/>
          <p:nvPr/>
        </p:nvSpPr>
        <p:spPr>
          <a:xfrm rot="5400000">
            <a:off x="82958" y="-82957"/>
            <a:ext cx="1940945" cy="2106862"/>
          </a:xfrm>
          <a:prstGeom prst="rtTriangle">
            <a:avLst/>
          </a:prstGeom>
          <a:solidFill>
            <a:srgbClr val="2152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B3AF9C4-0860-236E-8DDC-60FB1F72430D}"/>
              </a:ext>
            </a:extLst>
          </p:cNvPr>
          <p:cNvSpPr txBox="1"/>
          <p:nvPr/>
        </p:nvSpPr>
        <p:spPr>
          <a:xfrm>
            <a:off x="9558068" y="6426680"/>
            <a:ext cx="2386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  <a:cs typeface="Segoe UI" panose="020B0502040204020203" pitchFamily="34" charset="0"/>
              </a:rPr>
              <a:t>Luis Neu - L&amp;L 2026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DFA2B73-6041-0642-EFBA-60D2B1A08E37}"/>
              </a:ext>
            </a:extLst>
          </p:cNvPr>
          <p:cNvSpPr txBox="1"/>
          <p:nvPr/>
        </p:nvSpPr>
        <p:spPr>
          <a:xfrm>
            <a:off x="4031946" y="2705725"/>
            <a:ext cx="412810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800" b="1" dirty="0">
                <a:solidFill>
                  <a:srgbClr val="21527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9460238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AFFFF-1C70-BA5B-EC5C-0FD883E11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 Arredondado 21">
            <a:extLst>
              <a:ext uri="{FF2B5EF4-FFF2-40B4-BE49-F238E27FC236}">
                <a16:creationId xmlns:a16="http://schemas.microsoft.com/office/drawing/2014/main" id="{2324E1E3-5803-07AD-2B26-148069E0A1EF}"/>
              </a:ext>
            </a:extLst>
          </p:cNvPr>
          <p:cNvSpPr/>
          <p:nvPr/>
        </p:nvSpPr>
        <p:spPr>
          <a:xfrm>
            <a:off x="225052" y="2340865"/>
            <a:ext cx="5290475" cy="3648456"/>
          </a:xfrm>
          <a:prstGeom prst="roundRect">
            <a:avLst/>
          </a:prstGeom>
          <a:solidFill>
            <a:schemeClr val="accent1">
              <a:alpha val="28755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pic>
        <p:nvPicPr>
          <p:cNvPr id="2" name="Picture 10" descr="Write Your Kubernetes Infrastructure as Go Code — “cdk8s-plus” in Action! |  by Abhishek Gupta | Better Programming">
            <a:extLst>
              <a:ext uri="{FF2B5EF4-FFF2-40B4-BE49-F238E27FC236}">
                <a16:creationId xmlns:a16="http://schemas.microsoft.com/office/drawing/2014/main" id="{60A94119-7219-853C-750E-B2E44EE44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57525" y="701279"/>
            <a:ext cx="2435689" cy="730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riângulo Retângulo 2">
            <a:extLst>
              <a:ext uri="{FF2B5EF4-FFF2-40B4-BE49-F238E27FC236}">
                <a16:creationId xmlns:a16="http://schemas.microsoft.com/office/drawing/2014/main" id="{A642F466-D236-B33D-38B7-20C73D3F5F6E}"/>
              </a:ext>
            </a:extLst>
          </p:cNvPr>
          <p:cNvSpPr/>
          <p:nvPr/>
        </p:nvSpPr>
        <p:spPr>
          <a:xfrm rot="16200000">
            <a:off x="8536330" y="3202328"/>
            <a:ext cx="3899140" cy="3412201"/>
          </a:xfrm>
          <a:prstGeom prst="rtTriangle">
            <a:avLst/>
          </a:prstGeom>
          <a:solidFill>
            <a:srgbClr val="2152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Triângulo Retângulo 3">
            <a:extLst>
              <a:ext uri="{FF2B5EF4-FFF2-40B4-BE49-F238E27FC236}">
                <a16:creationId xmlns:a16="http://schemas.microsoft.com/office/drawing/2014/main" id="{568D90B7-442A-F23B-5D8F-FF9F8F53B13B}"/>
              </a:ext>
            </a:extLst>
          </p:cNvPr>
          <p:cNvSpPr/>
          <p:nvPr/>
        </p:nvSpPr>
        <p:spPr>
          <a:xfrm rot="5400000">
            <a:off x="82958" y="-82957"/>
            <a:ext cx="1940945" cy="2106862"/>
          </a:xfrm>
          <a:prstGeom prst="rtTriangle">
            <a:avLst/>
          </a:prstGeom>
          <a:solidFill>
            <a:srgbClr val="2152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6E13C97-D75B-D8BA-05A7-AE71BCE690E9}"/>
              </a:ext>
            </a:extLst>
          </p:cNvPr>
          <p:cNvSpPr txBox="1"/>
          <p:nvPr/>
        </p:nvSpPr>
        <p:spPr>
          <a:xfrm>
            <a:off x="9558068" y="6426680"/>
            <a:ext cx="2386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  <a:cs typeface="Segoe UI" panose="020B0502040204020203" pitchFamily="34" charset="0"/>
              </a:rPr>
              <a:t>Luis Neu - L&amp;L 2026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A6AFAE9-2264-C47D-117C-A16BCFDC4D97}"/>
              </a:ext>
            </a:extLst>
          </p:cNvPr>
          <p:cNvSpPr txBox="1"/>
          <p:nvPr/>
        </p:nvSpPr>
        <p:spPr>
          <a:xfrm>
            <a:off x="4096725" y="466467"/>
            <a:ext cx="48373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b="1" dirty="0">
                <a:solidFill>
                  <a:srgbClr val="21527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 Cases</a:t>
            </a:r>
          </a:p>
        </p:txBody>
      </p:sp>
      <p:pic>
        <p:nvPicPr>
          <p:cNvPr id="8" name="Picture 10" descr="Write Your Kubernetes Infrastructure as Go Code — “cdk8s-plus” in Action! |  by Abhishek Gupta | Better Programming">
            <a:extLst>
              <a:ext uri="{FF2B5EF4-FFF2-40B4-BE49-F238E27FC236}">
                <a16:creationId xmlns:a16="http://schemas.microsoft.com/office/drawing/2014/main" id="{EC3F07DD-05D3-4411-C5FF-985A297BA4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2645" y="3663767"/>
            <a:ext cx="2435689" cy="730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Yaml File Document Icon Icons - Free SVG &amp; PNG Yaml File Document Icon  Images - Noun Project">
            <a:extLst>
              <a:ext uri="{FF2B5EF4-FFF2-40B4-BE49-F238E27FC236}">
                <a16:creationId xmlns:a16="http://schemas.microsoft.com/office/drawing/2014/main" id="{A50F3708-C04C-E830-E7BF-36E82D8A7A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5783" y="2321861"/>
            <a:ext cx="1292360" cy="1292360"/>
          </a:xfrm>
          <a:prstGeom prst="rect">
            <a:avLst/>
          </a:prstGeom>
          <a:noFill/>
        </p:spPr>
      </p:pic>
      <p:pic>
        <p:nvPicPr>
          <p:cNvPr id="10" name="Picture 8" descr="Yaml File Document Icon Icons - Free SVG &amp; PNG Yaml File Document Icon  Images - Noun Project">
            <a:extLst>
              <a:ext uri="{FF2B5EF4-FFF2-40B4-BE49-F238E27FC236}">
                <a16:creationId xmlns:a16="http://schemas.microsoft.com/office/drawing/2014/main" id="{654C89C6-4750-FB95-B1F3-FAC1A8F60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129" y="4223790"/>
            <a:ext cx="1292360" cy="1292360"/>
          </a:xfrm>
          <a:prstGeom prst="rect">
            <a:avLst/>
          </a:prstGeom>
          <a:noFill/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2262758B-09D5-9648-F39A-773BDBF1AC28}"/>
              </a:ext>
            </a:extLst>
          </p:cNvPr>
          <p:cNvSpPr txBox="1"/>
          <p:nvPr/>
        </p:nvSpPr>
        <p:spPr>
          <a:xfrm>
            <a:off x="3434991" y="3437734"/>
            <a:ext cx="1993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Manifest-dev.yaml</a:t>
            </a:r>
            <a:endParaRPr lang="pt-BR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4ED7348-FB7D-8FBE-568C-FE172382C4BD}"/>
              </a:ext>
            </a:extLst>
          </p:cNvPr>
          <p:cNvSpPr txBox="1"/>
          <p:nvPr/>
        </p:nvSpPr>
        <p:spPr>
          <a:xfrm>
            <a:off x="3417337" y="5331484"/>
            <a:ext cx="1988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Manifest-prd.yaml</a:t>
            </a:r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B2F5FAF-0227-F65D-B55A-952493ACA1FD}"/>
              </a:ext>
            </a:extLst>
          </p:cNvPr>
          <p:cNvSpPr txBox="1"/>
          <p:nvPr/>
        </p:nvSpPr>
        <p:spPr>
          <a:xfrm>
            <a:off x="-87371" y="1678738"/>
            <a:ext cx="106828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21527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CI-CD </a:t>
            </a:r>
            <a:r>
              <a:rPr lang="pt-BR" sz="2800" b="1" dirty="0" err="1">
                <a:solidFill>
                  <a:srgbClr val="21527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with</a:t>
            </a:r>
            <a:r>
              <a:rPr lang="pt-BR" sz="2800" b="1" dirty="0">
                <a:solidFill>
                  <a:srgbClr val="21527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2800" b="1" dirty="0" err="1">
                <a:solidFill>
                  <a:srgbClr val="21527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fixed</a:t>
            </a:r>
            <a:r>
              <a:rPr lang="pt-BR" sz="2800" b="1" dirty="0">
                <a:solidFill>
                  <a:srgbClr val="21527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2800" b="1" dirty="0" err="1">
                <a:solidFill>
                  <a:srgbClr val="21527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manifests</a:t>
            </a:r>
            <a:r>
              <a:rPr lang="pt-BR" sz="2800" b="1" dirty="0">
                <a:solidFill>
                  <a:srgbClr val="21527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</a:p>
        </p:txBody>
      </p:sp>
      <p:pic>
        <p:nvPicPr>
          <p:cNvPr id="13314" name="Picture 2" descr="GitHub Actions - Visual Studio Marketplace">
            <a:extLst>
              <a:ext uri="{FF2B5EF4-FFF2-40B4-BE49-F238E27FC236}">
                <a16:creationId xmlns:a16="http://schemas.microsoft.com/office/drawing/2014/main" id="{5B9B49FA-01F3-61E4-165F-FEB4ED3016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2145" y="1903017"/>
            <a:ext cx="1071946" cy="1071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2" name="Picture 10" descr="ícone de Gitlab logo">
            <a:extLst>
              <a:ext uri="{FF2B5EF4-FFF2-40B4-BE49-F238E27FC236}">
                <a16:creationId xmlns:a16="http://schemas.microsoft.com/office/drawing/2014/main" id="{C86DA3CF-8785-6E71-83DC-BE34FCE2D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2145" y="3391974"/>
            <a:ext cx="1139660" cy="1139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4" name="Picture 12">
            <a:extLst>
              <a:ext uri="{FF2B5EF4-FFF2-40B4-BE49-F238E27FC236}">
                <a16:creationId xmlns:a16="http://schemas.microsoft.com/office/drawing/2014/main" id="{17A607E7-2FC5-7EA7-0023-21EF351F49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7964" y="5127314"/>
            <a:ext cx="867410" cy="1197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BE95F4FA-26A4-C27E-D532-F921E13DCCC3}"/>
              </a:ext>
            </a:extLst>
          </p:cNvPr>
          <p:cNvCxnSpPr/>
          <p:nvPr/>
        </p:nvCxnSpPr>
        <p:spPr>
          <a:xfrm flipH="1" flipV="1">
            <a:off x="5605272" y="4531634"/>
            <a:ext cx="2256873" cy="110769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FA3C3C10-7300-F6C6-020E-D84C2362F172}"/>
              </a:ext>
            </a:extLst>
          </p:cNvPr>
          <p:cNvCxnSpPr>
            <a:cxnSpLocks/>
          </p:cNvCxnSpPr>
          <p:nvPr/>
        </p:nvCxnSpPr>
        <p:spPr>
          <a:xfrm flipH="1" flipV="1">
            <a:off x="5605272" y="4029120"/>
            <a:ext cx="2167128" cy="349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5CDAC9D0-9DAB-0125-75DC-FFB466C11C27}"/>
              </a:ext>
            </a:extLst>
          </p:cNvPr>
          <p:cNvCxnSpPr/>
          <p:nvPr/>
        </p:nvCxnSpPr>
        <p:spPr>
          <a:xfrm flipH="1">
            <a:off x="5605272" y="2560320"/>
            <a:ext cx="2167128" cy="11034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etas Cruzadas 24">
            <a:extLst>
              <a:ext uri="{FF2B5EF4-FFF2-40B4-BE49-F238E27FC236}">
                <a16:creationId xmlns:a16="http://schemas.microsoft.com/office/drawing/2014/main" id="{88711625-5021-8078-8156-078317613441}"/>
              </a:ext>
            </a:extLst>
          </p:cNvPr>
          <p:cNvSpPr/>
          <p:nvPr/>
        </p:nvSpPr>
        <p:spPr>
          <a:xfrm>
            <a:off x="2870289" y="3797882"/>
            <a:ext cx="594360" cy="569830"/>
          </a:xfrm>
          <a:prstGeom prst="quadArrow">
            <a:avLst>
              <a:gd name="adj1" fmla="val 45000"/>
              <a:gd name="adj2" fmla="val 11267"/>
              <a:gd name="adj3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43855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170DA-B613-930C-B71F-248F4DAE4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Write Your Kubernetes Infrastructure as Go Code — “cdk8s-plus” in Action! |  by Abhishek Gupta | Better Programming">
            <a:extLst>
              <a:ext uri="{FF2B5EF4-FFF2-40B4-BE49-F238E27FC236}">
                <a16:creationId xmlns:a16="http://schemas.microsoft.com/office/drawing/2014/main" id="{45FDD1F5-194B-20F3-D557-D3A35C2464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57525" y="701279"/>
            <a:ext cx="2435689" cy="730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riângulo Retângulo 2">
            <a:extLst>
              <a:ext uri="{FF2B5EF4-FFF2-40B4-BE49-F238E27FC236}">
                <a16:creationId xmlns:a16="http://schemas.microsoft.com/office/drawing/2014/main" id="{E761F24D-74D3-0990-9EC2-18399C8DAAC4}"/>
              </a:ext>
            </a:extLst>
          </p:cNvPr>
          <p:cNvSpPr/>
          <p:nvPr/>
        </p:nvSpPr>
        <p:spPr>
          <a:xfrm rot="16200000">
            <a:off x="8536330" y="3202328"/>
            <a:ext cx="3899140" cy="3412201"/>
          </a:xfrm>
          <a:prstGeom prst="rtTriangle">
            <a:avLst/>
          </a:prstGeom>
          <a:solidFill>
            <a:srgbClr val="2152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Triângulo Retângulo 3">
            <a:extLst>
              <a:ext uri="{FF2B5EF4-FFF2-40B4-BE49-F238E27FC236}">
                <a16:creationId xmlns:a16="http://schemas.microsoft.com/office/drawing/2014/main" id="{BBF07E04-D3B5-2C9A-3196-06A391D175EB}"/>
              </a:ext>
            </a:extLst>
          </p:cNvPr>
          <p:cNvSpPr/>
          <p:nvPr/>
        </p:nvSpPr>
        <p:spPr>
          <a:xfrm rot="5400000">
            <a:off x="82958" y="-82957"/>
            <a:ext cx="1940945" cy="2106862"/>
          </a:xfrm>
          <a:prstGeom prst="rtTriangle">
            <a:avLst/>
          </a:prstGeom>
          <a:solidFill>
            <a:srgbClr val="2152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BC9FD62-9AE3-6DD9-7406-3CF1474B436B}"/>
              </a:ext>
            </a:extLst>
          </p:cNvPr>
          <p:cNvSpPr txBox="1"/>
          <p:nvPr/>
        </p:nvSpPr>
        <p:spPr>
          <a:xfrm>
            <a:off x="9558068" y="6426680"/>
            <a:ext cx="2386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  <a:cs typeface="Segoe UI" panose="020B0502040204020203" pitchFamily="34" charset="0"/>
              </a:rPr>
              <a:t>Luis Neu - L&amp;L 2026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04B5DE2-C571-48A4-DE08-4C1AAAF9C948}"/>
              </a:ext>
            </a:extLst>
          </p:cNvPr>
          <p:cNvSpPr txBox="1"/>
          <p:nvPr/>
        </p:nvSpPr>
        <p:spPr>
          <a:xfrm>
            <a:off x="4096725" y="466467"/>
            <a:ext cx="48373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6000" b="1" dirty="0">
                <a:solidFill>
                  <a:srgbClr val="21527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 Cases</a:t>
            </a:r>
          </a:p>
        </p:txBody>
      </p:sp>
      <p:pic>
        <p:nvPicPr>
          <p:cNvPr id="8" name="Picture 10" descr="Write Your Kubernetes Infrastructure as Go Code — “cdk8s-plus” in Action! |  by Abhishek Gupta | Better Programming">
            <a:extLst>
              <a:ext uri="{FF2B5EF4-FFF2-40B4-BE49-F238E27FC236}">
                <a16:creationId xmlns:a16="http://schemas.microsoft.com/office/drawing/2014/main" id="{31548B4C-06F6-E088-4E22-12B7D3F96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12645" y="3663767"/>
            <a:ext cx="2435689" cy="730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Yaml File Document Icon Icons - Free SVG &amp; PNG Yaml File Document Icon  Images - Noun Project">
            <a:extLst>
              <a:ext uri="{FF2B5EF4-FFF2-40B4-BE49-F238E27FC236}">
                <a16:creationId xmlns:a16="http://schemas.microsoft.com/office/drawing/2014/main" id="{1A23D154-FA6B-EA09-F84F-178923C13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4394" y="3239274"/>
            <a:ext cx="1292360" cy="1292360"/>
          </a:xfrm>
          <a:prstGeom prst="rect">
            <a:avLst/>
          </a:prstGeom>
          <a:noFill/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37E7446E-4AC8-AA9F-93CD-BBD6D5994013}"/>
              </a:ext>
            </a:extLst>
          </p:cNvPr>
          <p:cNvSpPr txBox="1"/>
          <p:nvPr/>
        </p:nvSpPr>
        <p:spPr>
          <a:xfrm>
            <a:off x="3396554" y="4316640"/>
            <a:ext cx="1592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manifest.yaml</a:t>
            </a:r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6DE76D1-EEE5-4CBC-42C0-C30B5B121D72}"/>
              </a:ext>
            </a:extLst>
          </p:cNvPr>
          <p:cNvSpPr txBox="1"/>
          <p:nvPr/>
        </p:nvSpPr>
        <p:spPr>
          <a:xfrm>
            <a:off x="-87371" y="1678738"/>
            <a:ext cx="106828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>
                <a:solidFill>
                  <a:srgbClr val="21527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CI-CD </a:t>
            </a:r>
            <a:r>
              <a:rPr lang="pt-BR" sz="2800" b="1" dirty="0" err="1">
                <a:solidFill>
                  <a:srgbClr val="21527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with</a:t>
            </a:r>
            <a:r>
              <a:rPr lang="pt-BR" sz="2800" b="1" dirty="0">
                <a:solidFill>
                  <a:srgbClr val="21527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2800" b="1" dirty="0" err="1">
                <a:solidFill>
                  <a:srgbClr val="21527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GitOps</a:t>
            </a:r>
            <a:r>
              <a:rPr lang="pt-BR" sz="2800" b="1" dirty="0">
                <a:solidFill>
                  <a:srgbClr val="21527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: </a:t>
            </a:r>
          </a:p>
        </p:txBody>
      </p: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B3998587-3C90-1DB8-96CA-039DFEDBEAE0}"/>
              </a:ext>
            </a:extLst>
          </p:cNvPr>
          <p:cNvCxnSpPr>
            <a:cxnSpLocks/>
          </p:cNvCxnSpPr>
          <p:nvPr/>
        </p:nvCxnSpPr>
        <p:spPr>
          <a:xfrm flipH="1" flipV="1">
            <a:off x="5605272" y="4531634"/>
            <a:ext cx="1949587" cy="5621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4542E3F8-1FA1-EB5F-A490-1E20427FAAA8}"/>
              </a:ext>
            </a:extLst>
          </p:cNvPr>
          <p:cNvCxnSpPr>
            <a:cxnSpLocks/>
          </p:cNvCxnSpPr>
          <p:nvPr/>
        </p:nvCxnSpPr>
        <p:spPr>
          <a:xfrm flipH="1">
            <a:off x="5605272" y="3063240"/>
            <a:ext cx="1949587" cy="60052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Setas Cruzadas 22">
            <a:extLst>
              <a:ext uri="{FF2B5EF4-FFF2-40B4-BE49-F238E27FC236}">
                <a16:creationId xmlns:a16="http://schemas.microsoft.com/office/drawing/2014/main" id="{4380FE52-B0EC-81A1-7534-F4125ADFDD1A}"/>
              </a:ext>
            </a:extLst>
          </p:cNvPr>
          <p:cNvSpPr/>
          <p:nvPr/>
        </p:nvSpPr>
        <p:spPr>
          <a:xfrm>
            <a:off x="2870289" y="3797882"/>
            <a:ext cx="594360" cy="569830"/>
          </a:xfrm>
          <a:prstGeom prst="quadArrow">
            <a:avLst>
              <a:gd name="adj1" fmla="val 45000"/>
              <a:gd name="adj2" fmla="val 11267"/>
              <a:gd name="adj3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482" name="Picture 2" descr="Exploring Argo CD: A Hands-On Guide to GitOps with Kubernetes | by Joseph  Whiteaker | Medium">
            <a:extLst>
              <a:ext uri="{FF2B5EF4-FFF2-40B4-BE49-F238E27FC236}">
                <a16:creationId xmlns:a16="http://schemas.microsoft.com/office/drawing/2014/main" id="{B924E65A-632B-18F7-7593-0DFD5164D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225" y="1940348"/>
            <a:ext cx="2815170" cy="1868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84" name="Picture 4" descr="Support | Flux">
            <a:extLst>
              <a:ext uri="{FF2B5EF4-FFF2-40B4-BE49-F238E27FC236}">
                <a16:creationId xmlns:a16="http://schemas.microsoft.com/office/drawing/2014/main" id="{939E7AF9-03BA-B904-E4C5-977575F80A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4707" y="4317204"/>
            <a:ext cx="1077572" cy="1724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48729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D9F29-9115-C95A-B954-4D944B026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riângulo Retângulo 2">
            <a:extLst>
              <a:ext uri="{FF2B5EF4-FFF2-40B4-BE49-F238E27FC236}">
                <a16:creationId xmlns:a16="http://schemas.microsoft.com/office/drawing/2014/main" id="{CED7E72E-66C8-31B2-12CD-5312F7BB775C}"/>
              </a:ext>
            </a:extLst>
          </p:cNvPr>
          <p:cNvSpPr/>
          <p:nvPr/>
        </p:nvSpPr>
        <p:spPr>
          <a:xfrm rot="5400000">
            <a:off x="-2141674" y="-155349"/>
            <a:ext cx="13128107" cy="10733413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Triângulo Retângulo 3">
            <a:extLst>
              <a:ext uri="{FF2B5EF4-FFF2-40B4-BE49-F238E27FC236}">
                <a16:creationId xmlns:a16="http://schemas.microsoft.com/office/drawing/2014/main" id="{E5297188-9C5D-F650-C9E3-5784CE67093C}"/>
              </a:ext>
            </a:extLst>
          </p:cNvPr>
          <p:cNvSpPr>
            <a:spLocks/>
          </p:cNvSpPr>
          <p:nvPr/>
        </p:nvSpPr>
        <p:spPr>
          <a:xfrm rot="15727790">
            <a:off x="-1335048" y="-3885354"/>
            <a:ext cx="13251685" cy="15075981"/>
          </a:xfrm>
          <a:prstGeom prst="rtTriangle">
            <a:avLst/>
          </a:prstGeom>
          <a:solidFill>
            <a:srgbClr val="2152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438B0D9E-9A69-3291-39ED-5CE820B8CE01}"/>
              </a:ext>
            </a:extLst>
          </p:cNvPr>
          <p:cNvSpPr txBox="1"/>
          <p:nvPr/>
        </p:nvSpPr>
        <p:spPr>
          <a:xfrm rot="18651359">
            <a:off x="1067840" y="3899854"/>
            <a:ext cx="466904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3800" dirty="0">
                <a:solidFill>
                  <a:srgbClr val="215276"/>
                </a:solidFill>
              </a:rPr>
              <a:t>PROS</a:t>
            </a:r>
          </a:p>
        </p:txBody>
      </p:sp>
      <p:pic>
        <p:nvPicPr>
          <p:cNvPr id="2" name="Picture 10" descr="Write Your Kubernetes Infrastructure as Go Code — “cdk8s-plus” in Action! |  by Abhishek Gupta | Better Programming">
            <a:extLst>
              <a:ext uri="{FF2B5EF4-FFF2-40B4-BE49-F238E27FC236}">
                <a16:creationId xmlns:a16="http://schemas.microsoft.com/office/drawing/2014/main" id="{5C862FFE-83F8-ACCC-791D-5D0018CA82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49712" y="423238"/>
            <a:ext cx="2435689" cy="730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2E57740B-9878-598D-3E81-C8D763DCE082}"/>
              </a:ext>
            </a:extLst>
          </p:cNvPr>
          <p:cNvSpPr txBox="1"/>
          <p:nvPr/>
        </p:nvSpPr>
        <p:spPr>
          <a:xfrm>
            <a:off x="9558068" y="6426680"/>
            <a:ext cx="2386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  <a:cs typeface="Segoe UI" panose="020B0502040204020203" pitchFamily="34" charset="0"/>
              </a:rPr>
              <a:t>Luis Neu - L&amp;L 2026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9B7C5E6-427A-0851-78C7-B996C13906E7}"/>
              </a:ext>
            </a:extLst>
          </p:cNvPr>
          <p:cNvSpPr txBox="1"/>
          <p:nvPr/>
        </p:nvSpPr>
        <p:spPr>
          <a:xfrm>
            <a:off x="86026" y="1165977"/>
            <a:ext cx="5051191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 err="1">
                <a:solidFill>
                  <a:srgbClr val="21527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Programming</a:t>
            </a:r>
            <a:r>
              <a:rPr lang="pt-BR" sz="3200" dirty="0">
                <a:solidFill>
                  <a:srgbClr val="21527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3200" dirty="0" err="1">
                <a:solidFill>
                  <a:srgbClr val="21527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languages</a:t>
            </a:r>
            <a:endParaRPr lang="pt-BR" sz="3200" dirty="0">
              <a:solidFill>
                <a:srgbClr val="21527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3200" dirty="0" err="1">
                <a:solidFill>
                  <a:srgbClr val="21527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Reusability</a:t>
            </a:r>
            <a:r>
              <a:rPr lang="pt-BR" sz="3200" dirty="0">
                <a:solidFill>
                  <a:srgbClr val="21527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3200" dirty="0" err="1">
                <a:solidFill>
                  <a:srgbClr val="21527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</a:t>
            </a:r>
            <a:r>
              <a:rPr lang="pt-BR" sz="3200" dirty="0">
                <a:solidFill>
                  <a:srgbClr val="21527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3200" dirty="0" err="1">
                <a:solidFill>
                  <a:srgbClr val="21527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abstraction</a:t>
            </a:r>
            <a:endParaRPr lang="pt-BR" sz="3200" dirty="0">
              <a:solidFill>
                <a:srgbClr val="21527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3200" dirty="0">
                <a:solidFill>
                  <a:srgbClr val="21527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Compile-time </a:t>
            </a:r>
            <a:r>
              <a:rPr lang="pt-BR" sz="3200" dirty="0" err="1">
                <a:solidFill>
                  <a:srgbClr val="21527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validation</a:t>
            </a:r>
            <a:r>
              <a:rPr lang="pt-BR" sz="3200" dirty="0">
                <a:solidFill>
                  <a:srgbClr val="21527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r>
              <a:rPr lang="pt-BR" sz="3200" dirty="0" err="1">
                <a:solidFill>
                  <a:srgbClr val="21527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Easier</a:t>
            </a:r>
            <a:r>
              <a:rPr lang="pt-BR" sz="3200" dirty="0">
                <a:solidFill>
                  <a:srgbClr val="21527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cluster upgrades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D6C190D9-94DB-60F7-B1B8-828672BDB643}"/>
              </a:ext>
            </a:extLst>
          </p:cNvPr>
          <p:cNvSpPr txBox="1"/>
          <p:nvPr/>
        </p:nvSpPr>
        <p:spPr>
          <a:xfrm>
            <a:off x="6592223" y="4348593"/>
            <a:ext cx="5433667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 </a:t>
            </a:r>
            <a:r>
              <a:rPr lang="pt-BR" sz="3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native</a:t>
            </a:r>
            <a:r>
              <a:rPr lang="pt-BR" sz="3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deployment</a:t>
            </a:r>
            <a:endParaRPr lang="pt-BR" sz="3200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pt-BR" sz="3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No </a:t>
            </a:r>
            <a:r>
              <a:rPr lang="pt-BR" sz="3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native</a:t>
            </a:r>
            <a:r>
              <a:rPr lang="pt-BR" sz="3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3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state</a:t>
            </a:r>
            <a:r>
              <a:rPr lang="pt-BR" sz="3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management</a:t>
            </a:r>
          </a:p>
          <a:p>
            <a:r>
              <a:rPr lang="pt-BR" sz="3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Lower </a:t>
            </a:r>
            <a:r>
              <a:rPr lang="pt-BR" sz="3200" dirty="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adoption</a:t>
            </a:r>
            <a:r>
              <a:rPr lang="pt-BR" sz="3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r>
              <a:rPr lang="pt-BR" sz="32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Learning Curve</a:t>
            </a:r>
            <a:endParaRPr lang="pt-BR" sz="2800" b="1" dirty="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9A2C469-3F5A-68A2-C7BB-05DFC2333E76}"/>
              </a:ext>
            </a:extLst>
          </p:cNvPr>
          <p:cNvSpPr txBox="1"/>
          <p:nvPr/>
        </p:nvSpPr>
        <p:spPr>
          <a:xfrm rot="7823190">
            <a:off x="4837603" y="934018"/>
            <a:ext cx="508876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3800" dirty="0">
                <a:solidFill>
                  <a:schemeClr val="bg1"/>
                </a:solidFill>
              </a:rPr>
              <a:t>CONS</a:t>
            </a:r>
          </a:p>
        </p:txBody>
      </p:sp>
    </p:spTree>
    <p:extLst>
      <p:ext uri="{BB962C8B-B14F-4D97-AF65-F5344CB8AC3E}">
        <p14:creationId xmlns:p14="http://schemas.microsoft.com/office/powerpoint/2010/main" val="42638283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128B5-153A-A2F6-7F79-54D99CBCF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Write Your Kubernetes Infrastructure as Go Code — “cdk8s-plus” in Action! |  by Abhishek Gupta | Better Programming">
            <a:extLst>
              <a:ext uri="{FF2B5EF4-FFF2-40B4-BE49-F238E27FC236}">
                <a16:creationId xmlns:a16="http://schemas.microsoft.com/office/drawing/2014/main" id="{89AA4F02-244A-E0A6-1649-E811BD1F1F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57525" y="701279"/>
            <a:ext cx="2435689" cy="730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riângulo Retângulo 2">
            <a:extLst>
              <a:ext uri="{FF2B5EF4-FFF2-40B4-BE49-F238E27FC236}">
                <a16:creationId xmlns:a16="http://schemas.microsoft.com/office/drawing/2014/main" id="{601B0624-0A92-C7CA-8EA3-E41757B763E0}"/>
              </a:ext>
            </a:extLst>
          </p:cNvPr>
          <p:cNvSpPr/>
          <p:nvPr/>
        </p:nvSpPr>
        <p:spPr>
          <a:xfrm rot="16200000">
            <a:off x="8536330" y="3202328"/>
            <a:ext cx="3899140" cy="3412201"/>
          </a:xfrm>
          <a:prstGeom prst="rtTriangle">
            <a:avLst/>
          </a:prstGeom>
          <a:solidFill>
            <a:srgbClr val="2152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Triângulo Retângulo 3">
            <a:extLst>
              <a:ext uri="{FF2B5EF4-FFF2-40B4-BE49-F238E27FC236}">
                <a16:creationId xmlns:a16="http://schemas.microsoft.com/office/drawing/2014/main" id="{FA8E415A-4367-D122-2EE2-C65BF2F727D1}"/>
              </a:ext>
            </a:extLst>
          </p:cNvPr>
          <p:cNvSpPr/>
          <p:nvPr/>
        </p:nvSpPr>
        <p:spPr>
          <a:xfrm rot="5400000">
            <a:off x="82958" y="-82957"/>
            <a:ext cx="1940945" cy="2106862"/>
          </a:xfrm>
          <a:prstGeom prst="rtTriangle">
            <a:avLst/>
          </a:prstGeom>
          <a:solidFill>
            <a:srgbClr val="2152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AEE8D13-C9AE-FF7D-223A-1BBBBB203841}"/>
              </a:ext>
            </a:extLst>
          </p:cNvPr>
          <p:cNvSpPr txBox="1"/>
          <p:nvPr/>
        </p:nvSpPr>
        <p:spPr>
          <a:xfrm>
            <a:off x="9558068" y="6426680"/>
            <a:ext cx="2386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chemeClr val="tx1">
                    <a:lumMod val="50000"/>
                    <a:lumOff val="50000"/>
                  </a:schemeClr>
                </a:solidFill>
                <a:latin typeface="Helvetica" pitchFamily="2" charset="0"/>
                <a:cs typeface="Segoe UI" panose="020B0502040204020203" pitchFamily="34" charset="0"/>
              </a:rPr>
              <a:t>Luis Neu - L&amp;L 2026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BBB9EFA-B14E-A60A-E909-FCF2EAB18F48}"/>
              </a:ext>
            </a:extLst>
          </p:cNvPr>
          <p:cNvSpPr txBox="1"/>
          <p:nvPr/>
        </p:nvSpPr>
        <p:spPr>
          <a:xfrm>
            <a:off x="3677317" y="2717961"/>
            <a:ext cx="48373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7200" b="1" dirty="0" err="1">
                <a:solidFill>
                  <a:srgbClr val="21527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</a:t>
            </a:r>
            <a:r>
              <a:rPr lang="pt-BR" sz="7200" b="1" dirty="0">
                <a:solidFill>
                  <a:srgbClr val="21527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7200" b="1" dirty="0" err="1">
                <a:solidFill>
                  <a:srgbClr val="21527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You</a:t>
            </a:r>
            <a:endParaRPr lang="pt-BR" sz="7200" b="1" dirty="0">
              <a:solidFill>
                <a:srgbClr val="215276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1860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4391</TotalTime>
  <Words>1750</Words>
  <Application>Microsoft Macintosh PowerPoint</Application>
  <PresentationFormat>Widescreen</PresentationFormat>
  <Paragraphs>195</Paragraphs>
  <Slides>13</Slides>
  <Notes>13</Notes>
  <HiddenSlides>1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20" baseType="lpstr">
      <vt:lpstr>-apple-system</vt:lpstr>
      <vt:lpstr>Aptos</vt:lpstr>
      <vt:lpstr>Aptos Display</vt:lpstr>
      <vt:lpstr>Arial</vt:lpstr>
      <vt:lpstr>Helvetica</vt:lpstr>
      <vt:lpstr>Segoe UI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Fernando Neu</dc:creator>
  <cp:lastModifiedBy>Fernando Neu</cp:lastModifiedBy>
  <cp:revision>1</cp:revision>
  <dcterms:created xsi:type="dcterms:W3CDTF">2026-03-14T15:27:42Z</dcterms:created>
  <dcterms:modified xsi:type="dcterms:W3CDTF">2026-03-17T16:39:22Z</dcterms:modified>
</cp:coreProperties>
</file>